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81" r:id="rId3"/>
    <p:sldId id="443" r:id="rId4"/>
    <p:sldId id="444" r:id="rId5"/>
    <p:sldId id="445" r:id="rId6"/>
    <p:sldId id="446" r:id="rId7"/>
    <p:sldId id="447" r:id="rId8"/>
    <p:sldId id="449" r:id="rId9"/>
    <p:sldId id="450" r:id="rId10"/>
    <p:sldId id="451" r:id="rId11"/>
    <p:sldId id="27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  <a:srgbClr val="B3B2CB"/>
    <a:srgbClr val="6F6CA8"/>
    <a:srgbClr val="C3F0F8"/>
    <a:srgbClr val="72DBEF"/>
    <a:srgbClr val="E2EEC4"/>
    <a:srgbClr val="BCD675"/>
    <a:srgbClr val="D1BED9"/>
    <a:srgbClr val="9366A6"/>
    <a:srgbClr val="7C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2" autoAdjust="0"/>
    <p:restoredTop sz="94668"/>
  </p:normalViewPr>
  <p:slideViewPr>
    <p:cSldViewPr snapToGrid="0">
      <p:cViewPr varScale="1">
        <p:scale>
          <a:sx n="63" d="100"/>
          <a:sy n="63" d="100"/>
        </p:scale>
        <p:origin x="9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99640-FDFF-554B-8155-2A4ABB0BB1C0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55478-82A6-BE44-8EFA-5CC00A452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9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491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053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840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703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001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346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668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691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0707D-31DF-4198-B226-3E86B722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62504C-6F4D-40E7-8C48-673B65E27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FBC30-F183-4D96-AE00-E67291B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06AE86-0A51-469D-B06F-E7B2B039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ED490-8851-48B1-BBB0-D43C8DE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E289-B09A-4E72-8BB7-380E1F24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3D96EF-4200-4D6C-8DC7-E3BBAD3B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91F25-F7DD-4CCA-BAF9-92B117DA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784E5-B5E6-4709-BCA9-69FC45F6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31165-6A70-4C14-B73E-66E28DE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6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6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2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5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8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01.04.2026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1627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AA36-DFB3-4BD3-B693-E730B8B63A63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4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E7D6B06-FFB5-40E2-86F2-0A120FA3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587" y="2395771"/>
            <a:ext cx="10515600" cy="187653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71DC3-7FDB-4052-9085-07C10441A584}"/>
              </a:ext>
            </a:extLst>
          </p:cNvPr>
          <p:cNvSpPr txBox="1"/>
          <p:nvPr/>
        </p:nvSpPr>
        <p:spPr>
          <a:xfrm>
            <a:off x="400050" y="2281534"/>
            <a:ext cx="11496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Проект информационной системы для автоматизации административных процессов в учреждении дополнительного образования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35ACE-972E-4E20-A18A-9BAEDFB7E4C6}"/>
              </a:ext>
            </a:extLst>
          </p:cNvPr>
          <p:cNvSpPr txBox="1"/>
          <p:nvPr/>
        </p:nvSpPr>
        <p:spPr>
          <a:xfrm>
            <a:off x="7753350" y="5181511"/>
            <a:ext cx="426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И.С.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Гураль</a:t>
            </a:r>
            <a:b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Группа З-31-1</a:t>
            </a:r>
            <a:b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Кафедра ЭМИС, ТУСУР</a:t>
            </a:r>
            <a:b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Томск,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06C1C6-101D-4FDF-8D11-8C79F83F5047}"/>
              </a:ext>
            </a:extLst>
          </p:cNvPr>
          <p:cNvSpPr txBox="1"/>
          <p:nvPr/>
        </p:nvSpPr>
        <p:spPr>
          <a:xfrm>
            <a:off x="2205318" y="4124933"/>
            <a:ext cx="10408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0" i="1" dirty="0">
                <a:solidFill>
                  <a:schemeClr val="bg1"/>
                </a:solidFill>
                <a:effectLst/>
                <a:latin typeface="quote-cjk-patch"/>
              </a:rPr>
              <a:t>Отчёт по результатам технологической практики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Скругленный прямоугольник 37">
            <a:extLst>
              <a:ext uri="{FF2B5EF4-FFF2-40B4-BE49-F238E27FC236}">
                <a16:creationId xmlns:a16="http://schemas.microsoft.com/office/drawing/2014/main" id="{A34AC1DD-16D9-4AEF-889F-30B464287CEE}"/>
              </a:ext>
            </a:extLst>
          </p:cNvPr>
          <p:cNvSpPr/>
          <p:nvPr/>
        </p:nvSpPr>
        <p:spPr>
          <a:xfrm>
            <a:off x="448733" y="1771214"/>
            <a:ext cx="11628967" cy="395331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Актуальность темы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D6C5F-7BE9-47CD-8C58-E2A41DB378EA}"/>
              </a:ext>
            </a:extLst>
          </p:cNvPr>
          <p:cNvSpPr txBox="1"/>
          <p:nvPr/>
        </p:nvSpPr>
        <p:spPr>
          <a:xfrm>
            <a:off x="448733" y="1771214"/>
            <a:ext cx="11628967" cy="372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Отсутствие комплексных информационных систем в учреждениях дополнительного образования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Высокая нагрузка на административный персонал при ручной обработке данных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Разрозненность данных: Google-форма,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Microsoft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Excel, бумажные журналы не связаны между собой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Недостаточная прозрачность взаимодействия с родителями и контроль успеваемости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Требования к защите персональных данных (ФЗ № 152-ФЗ)</a:t>
            </a:r>
          </a:p>
        </p:txBody>
      </p:sp>
    </p:spTree>
    <p:extLst>
      <p:ext uri="{BB962C8B-B14F-4D97-AF65-F5344CB8AC3E}">
        <p14:creationId xmlns:p14="http://schemas.microsoft.com/office/powerpoint/2010/main" val="50618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37">
            <a:extLst>
              <a:ext uri="{FF2B5EF4-FFF2-40B4-BE49-F238E27FC236}">
                <a16:creationId xmlns:a16="http://schemas.microsoft.com/office/drawing/2014/main" id="{218080C2-8675-44FA-B505-1AB9077BDB1E}"/>
              </a:ext>
            </a:extLst>
          </p:cNvPr>
          <p:cNvSpPr/>
          <p:nvPr/>
        </p:nvSpPr>
        <p:spPr>
          <a:xfrm>
            <a:off x="382057" y="1172341"/>
            <a:ext cx="11290167" cy="502227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Цель и задачи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D6C5F-7BE9-47CD-8C58-E2A41DB378EA}"/>
              </a:ext>
            </a:extLst>
          </p:cNvPr>
          <p:cNvSpPr txBox="1"/>
          <p:nvPr/>
        </p:nvSpPr>
        <p:spPr>
          <a:xfrm>
            <a:off x="519775" y="3192151"/>
            <a:ext cx="11223492" cy="294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Задачи: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анализировать предметную область, существующих бизнес-процессов учреждения и доступных программных решений, выявить ключевые проблемы и сформулировать требования к автоматизации;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спроектировать информационную систему, включая разработку технического задания, выбор технологического стека, моделирование структуры базы данных и пользовательских интерфейсов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0423D-C085-4B7D-80E1-DE29C8E2DF45}"/>
              </a:ext>
            </a:extLst>
          </p:cNvPr>
          <p:cNvSpPr txBox="1"/>
          <p:nvPr/>
        </p:nvSpPr>
        <p:spPr>
          <a:xfrm>
            <a:off x="519775" y="1172341"/>
            <a:ext cx="11223492" cy="211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Цель: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Разработка и обоснование проектных решений информационной системы, обеспечивающей автоматизацию ключевых административных и учебных процессов учреждения дополнительного образования на основе анализа предметной области и современных веб-технологий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632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Проблематика предметной области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19AD099-DECF-4349-B8EE-730E28F1B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885992"/>
              </p:ext>
            </p:extLst>
          </p:nvPr>
        </p:nvGraphicFramePr>
        <p:xfrm>
          <a:off x="558920" y="1177097"/>
          <a:ext cx="10673856" cy="409339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557952">
                  <a:extLst>
                    <a:ext uri="{9D8B030D-6E8A-4147-A177-3AD203B41FA5}">
                      <a16:colId xmlns:a16="http://schemas.microsoft.com/office/drawing/2014/main" val="634514915"/>
                    </a:ext>
                  </a:extLst>
                </a:gridCol>
                <a:gridCol w="3557952">
                  <a:extLst>
                    <a:ext uri="{9D8B030D-6E8A-4147-A177-3AD203B41FA5}">
                      <a16:colId xmlns:a16="http://schemas.microsoft.com/office/drawing/2014/main" val="236959063"/>
                    </a:ext>
                  </a:extLst>
                </a:gridCol>
                <a:gridCol w="3557952">
                  <a:extLst>
                    <a:ext uri="{9D8B030D-6E8A-4147-A177-3AD203B41FA5}">
                      <a16:colId xmlns:a16="http://schemas.microsoft.com/office/drawing/2014/main" val="3309181207"/>
                    </a:ext>
                  </a:extLst>
                </a:gridCol>
              </a:tblGrid>
              <a:tr h="398194">
                <a:tc>
                  <a:txBody>
                    <a:bodyPr/>
                    <a:lstStyle/>
                    <a:p>
                      <a:pPr algn="l"/>
                      <a:r>
                        <a:rPr lang="ru-RU" sz="1700" b="1">
                          <a:effectLst/>
                        </a:rPr>
                        <a:t>Ключевая проблема</a:t>
                      </a:r>
                      <a:endParaRPr lang="ru-RU" sz="1700" b="1">
                        <a:effectLst/>
                        <a:latin typeface="quote-cjk-patch"/>
                      </a:endParaRPr>
                    </a:p>
                  </a:txBody>
                  <a:tcPr marL="84492" marR="140820" marT="88012" marB="880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1">
                          <a:effectLst/>
                        </a:rPr>
                        <a:t>Проявление</a:t>
                      </a:r>
                      <a:endParaRPr lang="ru-RU" sz="1700" b="1">
                        <a:effectLst/>
                        <a:latin typeface="quote-cjk-patch"/>
                      </a:endParaRPr>
                    </a:p>
                  </a:txBody>
                  <a:tcPr marL="140820" marR="140820" marT="88012" marB="8801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1" dirty="0">
                          <a:effectLst/>
                        </a:rPr>
                        <a:t>Последствие</a:t>
                      </a:r>
                      <a:endParaRPr lang="ru-RU" sz="1700" b="1" dirty="0">
                        <a:effectLst/>
                        <a:latin typeface="quote-cjk-patch"/>
                      </a:endParaRPr>
                    </a:p>
                  </a:txBody>
                  <a:tcPr marL="140820" marR="140820" marT="88012" marB="88012" anchor="ctr"/>
                </a:tc>
                <a:extLst>
                  <a:ext uri="{0D108BD9-81ED-4DB2-BD59-A6C34878D82A}">
                    <a16:rowId xmlns:a16="http://schemas.microsoft.com/office/drawing/2014/main" val="269622212"/>
                  </a:ext>
                </a:extLst>
              </a:tr>
              <a:tr h="857013">
                <a:tc>
                  <a:txBody>
                    <a:bodyPr/>
                    <a:lstStyle/>
                    <a:p>
                      <a:r>
                        <a:rPr lang="ru-RU" sz="1700" b="0" dirty="0">
                          <a:effectLst/>
                        </a:rPr>
                        <a:t>Разрозненность данных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84492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effectLst/>
                        </a:rPr>
                        <a:t>Google-</a:t>
                      </a:r>
                      <a:r>
                        <a:rPr lang="ru-RU" sz="1700" b="0" dirty="0">
                          <a:effectLst/>
                        </a:rPr>
                        <a:t>форма, </a:t>
                      </a:r>
                      <a:r>
                        <a:rPr lang="en-US" sz="1700" b="0" dirty="0">
                          <a:effectLst/>
                        </a:rPr>
                        <a:t>Microsoft Excel, </a:t>
                      </a:r>
                      <a:r>
                        <a:rPr lang="ru-RU" sz="1700" b="0" dirty="0">
                          <a:effectLst/>
                        </a:rPr>
                        <a:t>бумажные журналы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140820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Ручной перенос, ошибки, неактуальность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40820" marR="84492" marT="88012" marB="88012" anchor="ctr"/>
                </a:tc>
                <a:extLst>
                  <a:ext uri="{0D108BD9-81ED-4DB2-BD59-A6C34878D82A}">
                    <a16:rowId xmlns:a16="http://schemas.microsoft.com/office/drawing/2014/main" val="3809846416"/>
                  </a:ext>
                </a:extLst>
              </a:tr>
              <a:tr h="635296"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Отсутствие </a:t>
                      </a:r>
                      <a:r>
                        <a:rPr lang="en-US" sz="1700" b="0">
                          <a:effectLst/>
                        </a:rPr>
                        <a:t>CRM-</a:t>
                      </a:r>
                      <a:r>
                        <a:rPr lang="ru-RU" sz="1700" b="0">
                          <a:effectLst/>
                        </a:rPr>
                        <a:t>воронки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4492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 dirty="0">
                          <a:effectLst/>
                        </a:rPr>
                        <a:t>Заявки в личных заметках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140820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Потеря заявок, нет анализа конверсии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40820" marR="84492" marT="88012" marB="88012" anchor="ctr"/>
                </a:tc>
                <a:extLst>
                  <a:ext uri="{0D108BD9-81ED-4DB2-BD59-A6C34878D82A}">
                    <a16:rowId xmlns:a16="http://schemas.microsoft.com/office/drawing/2014/main" val="2176201254"/>
                  </a:ext>
                </a:extLst>
              </a:tr>
              <a:tr h="857013"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Ручное планирование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4492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Расписание в </a:t>
                      </a:r>
                      <a:r>
                        <a:rPr lang="en-US" sz="1700" b="0">
                          <a:effectLst/>
                        </a:rPr>
                        <a:t>Excel</a:t>
                      </a:r>
                      <a:endParaRPr lang="en-US" sz="1700" b="0">
                        <a:effectLst/>
                        <a:latin typeface="quote-cjk-patch"/>
                      </a:endParaRPr>
                    </a:p>
                  </a:txBody>
                  <a:tcPr marL="140820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Конфликты ресурсов, большие затраты времени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40820" marR="84492" marT="88012" marB="88012" anchor="ctr"/>
                </a:tc>
                <a:extLst>
                  <a:ext uri="{0D108BD9-81ED-4DB2-BD59-A6C34878D82A}">
                    <a16:rowId xmlns:a16="http://schemas.microsoft.com/office/drawing/2014/main" val="2725665959"/>
                  </a:ext>
                </a:extLst>
              </a:tr>
              <a:tr h="625039"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Ручная отчётность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4492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 dirty="0">
                          <a:effectLst/>
                        </a:rPr>
                        <a:t>Сбор данных для МЗ, тарификации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140820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Задержки, высокие трудозатраты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40820" marR="84492" marT="88012" marB="88012" anchor="ctr"/>
                </a:tc>
                <a:extLst>
                  <a:ext uri="{0D108BD9-81ED-4DB2-BD59-A6C34878D82A}">
                    <a16:rowId xmlns:a16="http://schemas.microsoft.com/office/drawing/2014/main" val="2130582288"/>
                  </a:ext>
                </a:extLst>
              </a:tr>
              <a:tr h="625039"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Нет аналитики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84492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</a:rPr>
                        <a:t>Нет перекрёстных срезов</a:t>
                      </a:r>
                      <a:endParaRPr lang="ru-RU" sz="1700" b="0">
                        <a:effectLst/>
                        <a:latin typeface="quote-cjk-patch"/>
                      </a:endParaRPr>
                    </a:p>
                  </a:txBody>
                  <a:tcPr marL="140820" marR="140820" marT="88012" marB="88012" anchor="ctr"/>
                </a:tc>
                <a:tc>
                  <a:txBody>
                    <a:bodyPr/>
                    <a:lstStyle/>
                    <a:p>
                      <a:r>
                        <a:rPr lang="ru-RU" sz="1700" b="0" dirty="0">
                          <a:effectLst/>
                        </a:rPr>
                        <a:t>Сложность принятия решений</a:t>
                      </a:r>
                      <a:endParaRPr lang="ru-RU" sz="1700" b="0" dirty="0">
                        <a:effectLst/>
                        <a:latin typeface="quote-cjk-patch"/>
                      </a:endParaRPr>
                    </a:p>
                  </a:txBody>
                  <a:tcPr marL="140820" marR="84492" marT="88012" marB="88012" anchor="ctr"/>
                </a:tc>
                <a:extLst>
                  <a:ext uri="{0D108BD9-81ED-4DB2-BD59-A6C34878D82A}">
                    <a16:rowId xmlns:a16="http://schemas.microsoft.com/office/drawing/2014/main" val="333345051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8D6CB65-3E23-4683-9126-84574E79B27C}"/>
              </a:ext>
            </a:extLst>
          </p:cNvPr>
          <p:cNvSpPr txBox="1"/>
          <p:nvPr/>
        </p:nvSpPr>
        <p:spPr>
          <a:xfrm>
            <a:off x="558920" y="5421648"/>
            <a:ext cx="85637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Вывод: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Требуется единая информационная система, объединяющая CRM, учёт и отчётность.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23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Обзор существующих решений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84EB9AC-D890-4B6E-A716-C227B9440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845542"/>
              </p:ext>
            </p:extLst>
          </p:nvPr>
        </p:nvGraphicFramePr>
        <p:xfrm>
          <a:off x="448733" y="1203857"/>
          <a:ext cx="11420537" cy="416052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440679">
                  <a:extLst>
                    <a:ext uri="{9D8B030D-6E8A-4147-A177-3AD203B41FA5}">
                      <a16:colId xmlns:a16="http://schemas.microsoft.com/office/drawing/2014/main" val="914832092"/>
                    </a:ext>
                  </a:extLst>
                </a:gridCol>
                <a:gridCol w="2993286">
                  <a:extLst>
                    <a:ext uri="{9D8B030D-6E8A-4147-A177-3AD203B41FA5}">
                      <a16:colId xmlns:a16="http://schemas.microsoft.com/office/drawing/2014/main" val="2189517525"/>
                    </a:ext>
                  </a:extLst>
                </a:gridCol>
                <a:gridCol w="2993286">
                  <a:extLst>
                    <a:ext uri="{9D8B030D-6E8A-4147-A177-3AD203B41FA5}">
                      <a16:colId xmlns:a16="http://schemas.microsoft.com/office/drawing/2014/main" val="2240566273"/>
                    </a:ext>
                  </a:extLst>
                </a:gridCol>
                <a:gridCol w="2993286">
                  <a:extLst>
                    <a:ext uri="{9D8B030D-6E8A-4147-A177-3AD203B41FA5}">
                      <a16:colId xmlns:a16="http://schemas.microsoft.com/office/drawing/2014/main" val="3229955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Система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Для продаж (</a:t>
                      </a:r>
                      <a:r>
                        <a:rPr lang="en-US" b="0">
                          <a:effectLst/>
                        </a:rPr>
                        <a:t>CRM)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Для учёта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</a:rPr>
                        <a:t>Для гос. отчётности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4009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Bitrix24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✅ воронки, задачи, база клиентов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❌ нет расписания, журнала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❌ не формирует МЗ, тарификацию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039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1С:Образование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⚠️ учёт платных услуг, нет CRM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журнал, расписание, группы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полный учёт, отчёты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109699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Аверс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❌ акцент на учёт, не на продажи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расписание, журнал, посещения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эталон гос. отчётности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79181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ListOk / Olla Berkana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учёт клиентов, запись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расписание, абонементы, посещения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❌ нет поддержки МЗ/тарификации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48755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HOLLIHOP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воронка, коммуникации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</a:rPr>
                        <a:t>✅ расписание, ЛК студента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</a:rPr>
                        <a:t>❌ нет поддержки гос. отчётности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79582974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CF5CD00-704F-4792-8BFA-73E10C9AB6CB}"/>
              </a:ext>
            </a:extLst>
          </p:cNvPr>
          <p:cNvSpPr txBox="1"/>
          <p:nvPr/>
        </p:nvSpPr>
        <p:spPr>
          <a:xfrm>
            <a:off x="448733" y="5399140"/>
            <a:ext cx="7287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Вывод: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Ни одна система не обеспечивает 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единую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автоматизацию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 привлечения клиентов → через учёт → до гос. отчётности.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921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664A33AD-5752-4E80-9073-397AB6232C0B}"/>
              </a:ext>
            </a:extLst>
          </p:cNvPr>
          <p:cNvSpPr/>
          <p:nvPr/>
        </p:nvSpPr>
        <p:spPr>
          <a:xfrm>
            <a:off x="239183" y="1228166"/>
            <a:ext cx="5942542" cy="512906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Требования к системе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D6C5F-7BE9-47CD-8C58-E2A41DB378EA}"/>
              </a:ext>
            </a:extLst>
          </p:cNvPr>
          <p:cNvSpPr txBox="1"/>
          <p:nvPr/>
        </p:nvSpPr>
        <p:spPr>
          <a:xfrm>
            <a:off x="295275" y="1386678"/>
            <a:ext cx="11772900" cy="585326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Функциональные требования: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CRM-воронка: регистрация заявок, управление статусами, автоматическое зачисление при подтверждении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Единая карточка обучающегося (история зачислений, платежей, посещений)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Конструктор расписания с проверкой конфликтов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Электронный журнал с автоматическим формированием отчётности (МЗ, тарификация)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Личные кабинеты: администратор, менеджер, преподаватель, родитель, ученик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Модуль аналитики (перекрёстные срезы по возрастам, направлениям)</a:t>
            </a:r>
          </a:p>
          <a:p>
            <a:pPr lvl="1">
              <a:lnSpc>
                <a:spcPct val="150000"/>
              </a:lnSpc>
            </a:pP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>
              <a:lnSpc>
                <a:spcPct val="150000"/>
              </a:lnSpc>
            </a:pP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Нефункциональные требования: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Безопасность: разграничение прав доступа, 152-ФЗ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Производительность: обеспечение отзывчивости интерфейса при одновременной работе до 30 пользователей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Адаптивность интерфейса для ПК, планшетов, смартфонов</a:t>
            </a:r>
          </a:p>
        </p:txBody>
      </p:sp>
    </p:spTree>
    <p:extLst>
      <p:ext uri="{BB962C8B-B14F-4D97-AF65-F5344CB8AC3E}">
        <p14:creationId xmlns:p14="http://schemas.microsoft.com/office/powerpoint/2010/main" val="1078323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A355B21D-D727-47E2-9773-1D95B3BF7174}"/>
              </a:ext>
            </a:extLst>
          </p:cNvPr>
          <p:cNvSpPr/>
          <p:nvPr/>
        </p:nvSpPr>
        <p:spPr>
          <a:xfrm>
            <a:off x="328269" y="1164094"/>
            <a:ext cx="10219267" cy="255625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Архитектура и технологии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D6C5F-7BE9-47CD-8C58-E2A41DB378EA}"/>
              </a:ext>
            </a:extLst>
          </p:cNvPr>
          <p:cNvSpPr txBox="1"/>
          <p:nvPr/>
        </p:nvSpPr>
        <p:spPr>
          <a:xfrm>
            <a:off x="539354" y="1164094"/>
            <a:ext cx="9937464" cy="5437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Технологический стек: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Python + Django —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серверная логика,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ORM,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безопасность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SQLite (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разработка) /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PostgreSQL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продакшен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 — реляционная СУБД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HTML / CSS / JavaScript + Bootstrap —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адаптивный интерфейс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Git —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контроль версий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n8n —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автоматизация уведомлений (перспектива)</a:t>
            </a:r>
          </a:p>
          <a:p>
            <a:pPr>
              <a:lnSpc>
                <a:spcPct val="150000"/>
              </a:lnSpc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Архитектурные особенности: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Локальное развёртывание на сервере учреждения (в перспективе — гибридная модель с резервным облачным хранением)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Ролевая модель доступа: администратор, преподаватель, родитель, обучающийся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Защита персональных данных (ФЗ № 152-ФЗ)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Модульность, расширяемость</a:t>
            </a:r>
          </a:p>
        </p:txBody>
      </p:sp>
    </p:spTree>
    <p:extLst>
      <p:ext uri="{BB962C8B-B14F-4D97-AF65-F5344CB8AC3E}">
        <p14:creationId xmlns:p14="http://schemas.microsoft.com/office/powerpoint/2010/main" val="10152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37">
            <a:extLst>
              <a:ext uri="{FF2B5EF4-FFF2-40B4-BE49-F238E27FC236}">
                <a16:creationId xmlns:a16="http://schemas.microsoft.com/office/drawing/2014/main" id="{DB108E63-CEA9-48E0-A9F3-E51E84624003}"/>
              </a:ext>
            </a:extLst>
          </p:cNvPr>
          <p:cNvSpPr/>
          <p:nvPr/>
        </p:nvSpPr>
        <p:spPr>
          <a:xfrm>
            <a:off x="667631" y="1104593"/>
            <a:ext cx="10515600" cy="3503266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Структура базы данных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9D6C5F-7BE9-47CD-8C58-E2A41DB378EA}"/>
              </a:ext>
            </a:extLst>
          </p:cNvPr>
          <p:cNvSpPr txBox="1"/>
          <p:nvPr/>
        </p:nvSpPr>
        <p:spPr>
          <a:xfrm>
            <a:off x="1008769" y="1073113"/>
            <a:ext cx="9955563" cy="5216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b="1" dirty="0">
                <a:latin typeface="Verdana" panose="020B0604030504040204" pitchFamily="34" charset="0"/>
                <a:ea typeface="Verdana" panose="020B0604030504040204" pitchFamily="34" charset="0"/>
              </a:rPr>
              <a:t>Основные сущности: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User — аутентификация, расширяется профилями ролей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Pupil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(Обучающийся) — персональные данные, история зачислений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Parent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(Родитель) — связан с одним или несколькими </a:t>
            </a: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Pupil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Group (Группа) — объединяет обучающихся, привязана к расписанию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Teacher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(Преподаватель) — ведёт занятия, связан с расписанием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Schedule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(Расписание) — дата, время, аудитория, привязка к Group и </a:t>
            </a: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Teacher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Attendance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(Посещаемость) — связь </a:t>
            </a: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Pupil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и </a:t>
            </a: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Schedule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, фиксация причины отсутствия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Payment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(Платёж) — учёт и уведомление об оплатах и благотворительных взносов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Enrollment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(Зачисление) — связь </a:t>
            </a:r>
            <a:r>
              <a:rPr lang="ru-RU" sz="1500" dirty="0" err="1">
                <a:latin typeface="Verdana" panose="020B0604030504040204" pitchFamily="34" charset="0"/>
                <a:ea typeface="Verdana" panose="020B0604030504040204" pitchFamily="34" charset="0"/>
              </a:rPr>
              <a:t>Pupil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и Group с датами зачисления и окончания</a:t>
            </a:r>
          </a:p>
          <a:p>
            <a:pPr>
              <a:lnSpc>
                <a:spcPct val="150000"/>
              </a:lnSpc>
            </a:pPr>
            <a:endParaRPr lang="ru-RU" sz="15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Особенности модели: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Связи через внешние ключи (Foreign Key)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Нормализованная схема, исключающая дублирование данных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Соответствие требованиям 152-ФЗ</a:t>
            </a:r>
          </a:p>
        </p:txBody>
      </p:sp>
    </p:spTree>
    <p:extLst>
      <p:ext uri="{BB962C8B-B14F-4D97-AF65-F5344CB8AC3E}">
        <p14:creationId xmlns:p14="http://schemas.microsoft.com/office/powerpoint/2010/main" val="326651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Интерфейсы пользователей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03070-4C0D-43AE-9C34-F626273A569C}"/>
              </a:ext>
            </a:extLst>
          </p:cNvPr>
          <p:cNvSpPr txBox="1"/>
          <p:nvPr/>
        </p:nvSpPr>
        <p:spPr>
          <a:xfrm>
            <a:off x="448733" y="1086161"/>
            <a:ext cx="11152272" cy="96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Ролевая модель: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Администратор | Менеджер | Преподаватель | Родитель | Ученик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Макеты ключевых интерфейсов: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lnSpc>
                <a:spcPct val="150000"/>
              </a:lnSpc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8595F55-7D6A-4707-B869-774830C9C29D}"/>
              </a:ext>
            </a:extLst>
          </p:cNvPr>
          <p:cNvSpPr/>
          <p:nvPr/>
        </p:nvSpPr>
        <p:spPr>
          <a:xfrm rot="16200000" flipV="1">
            <a:off x="3572642" y="4208330"/>
            <a:ext cx="4800530" cy="45719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463B10-C35C-4B7F-83B8-EC4EA251CF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18" y="1830925"/>
            <a:ext cx="5066857" cy="48005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5267812-3BCC-452D-8D49-1CBB38FF9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278" y="1830924"/>
            <a:ext cx="5066857" cy="4800531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55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37">
            <a:extLst>
              <a:ext uri="{FF2B5EF4-FFF2-40B4-BE49-F238E27FC236}">
                <a16:creationId xmlns:a16="http://schemas.microsoft.com/office/drawing/2014/main" id="{B4F13E98-9708-47DB-BBE1-9C724E61E2B8}"/>
              </a:ext>
            </a:extLst>
          </p:cNvPr>
          <p:cNvSpPr/>
          <p:nvPr/>
        </p:nvSpPr>
        <p:spPr>
          <a:xfrm>
            <a:off x="448732" y="1299883"/>
            <a:ext cx="11562291" cy="323625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Выводы и значимость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E68BB-B29C-40E8-AFF8-34CA289C3A1E}"/>
              </a:ext>
            </a:extLst>
          </p:cNvPr>
          <p:cNvSpPr txBox="1"/>
          <p:nvPr/>
        </p:nvSpPr>
        <p:spPr>
          <a:xfrm>
            <a:off x="563313" y="1438103"/>
            <a:ext cx="11562291" cy="294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Выполнен анализ предметной области и существующих решений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Сформулированы функциональные и нефункциональные требования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Обоснован технологический стек и архитектура системы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Спроектирована структура базы данных и интерфейсы для всех ролей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Результаты практики создают основу для последующей реализации системы в ВКР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Полученные проектные решения могут быть использованы при автоматизации учреждений дополнительного образования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37AE0-C881-4BAC-B33E-A10D39033A5C}"/>
              </a:ext>
            </a:extLst>
          </p:cNvPr>
          <p:cNvSpPr txBox="1"/>
          <p:nvPr/>
        </p:nvSpPr>
        <p:spPr>
          <a:xfrm>
            <a:off x="563313" y="4573512"/>
            <a:ext cx="11142631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b="1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Закреплённые компетенции:</a:t>
            </a:r>
            <a:endParaRPr lang="ru-RU" b="0" i="0" dirty="0">
              <a:solidFill>
                <a:srgbClr val="0F1115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Анализ и моделирование бизнес-процессов (ОПК-1, ПКС-1)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Выбор и обоснование технологических решений (ОПК-2, ПКС-2)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Разработка технической документации (ОПК-4, ПКР-9)</a:t>
            </a:r>
          </a:p>
        </p:txBody>
      </p:sp>
    </p:spTree>
    <p:extLst>
      <p:ext uri="{BB962C8B-B14F-4D97-AF65-F5344CB8AC3E}">
        <p14:creationId xmlns:p14="http://schemas.microsoft.com/office/powerpoint/2010/main" val="1810145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7474090-B206-43C0-969E-36A803F3A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39" y="679681"/>
            <a:ext cx="2338312" cy="661341"/>
          </a:xfrm>
          <a:prstGeom prst="rect">
            <a:avLst/>
          </a:prstGeom>
        </p:spPr>
      </p:pic>
      <p:sp>
        <p:nvSpPr>
          <p:cNvPr id="4" name="object 21">
            <a:extLst>
              <a:ext uri="{FF2B5EF4-FFF2-40B4-BE49-F238E27FC236}">
                <a16:creationId xmlns:a16="http://schemas.microsoft.com/office/drawing/2014/main" id="{A3A4DCCF-4674-41A6-9649-5AEFCE619344}"/>
              </a:ext>
            </a:extLst>
          </p:cNvPr>
          <p:cNvSpPr txBox="1">
            <a:spLocks/>
          </p:cNvSpPr>
          <p:nvPr/>
        </p:nvSpPr>
        <p:spPr>
          <a:xfrm>
            <a:off x="707038" y="2805752"/>
            <a:ext cx="6870555" cy="1246495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СПАСИБО </a:t>
            </a:r>
            <a:b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</a:b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ЗА ВНИМАНИЕ!</a:t>
            </a:r>
            <a:endParaRPr lang="ru-RU" sz="4000" dirty="0">
              <a:latin typeface="Nekst Bold" panose="00000800000000000000" pitchFamily="2" charset="-52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C420B5-68DA-4A04-BF66-4777E4377E6B}"/>
              </a:ext>
            </a:extLst>
          </p:cNvPr>
          <p:cNvSpPr/>
          <p:nvPr/>
        </p:nvSpPr>
        <p:spPr>
          <a:xfrm>
            <a:off x="622853" y="4857701"/>
            <a:ext cx="3266920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Гураль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Илья Сергеевич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85BF20-4772-4B47-9219-A3AD8B0384DD}"/>
              </a:ext>
            </a:extLst>
          </p:cNvPr>
          <p:cNvSpPr/>
          <p:nvPr/>
        </p:nvSpPr>
        <p:spPr>
          <a:xfrm>
            <a:off x="622853" y="5225233"/>
            <a:ext cx="4591000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en-US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e-mail: ilaygural1987@yandex.ru</a:t>
            </a:r>
            <a:endParaRPr lang="en-US" sz="1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5072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866</TotalTime>
  <Words>837</Words>
  <Application>Microsoft Office PowerPoint</Application>
  <PresentationFormat>Широкоэкранный</PresentationFormat>
  <Paragraphs>145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Nekst Bold</vt:lpstr>
      <vt:lpstr>quote-cjk-patch</vt:lpstr>
      <vt:lpstr>Verdana</vt:lpstr>
      <vt:lpstr>Wingdings</vt:lpstr>
      <vt:lpstr>Тема Office</vt:lpstr>
      <vt:lpstr>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образования: итоги 2021</dc:title>
  <dc:creator>User</dc:creator>
  <cp:lastModifiedBy>Ilay Gural</cp:lastModifiedBy>
  <cp:revision>73</cp:revision>
  <dcterms:created xsi:type="dcterms:W3CDTF">2022-06-29T03:22:44Z</dcterms:created>
  <dcterms:modified xsi:type="dcterms:W3CDTF">2026-04-01T10:37:46Z</dcterms:modified>
</cp:coreProperties>
</file>