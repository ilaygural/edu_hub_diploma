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7" r:id="rId2"/>
    <p:sldId id="443" r:id="rId3"/>
    <p:sldId id="452" r:id="rId4"/>
    <p:sldId id="445" r:id="rId5"/>
    <p:sldId id="447" r:id="rId6"/>
    <p:sldId id="453" r:id="rId7"/>
    <p:sldId id="449" r:id="rId8"/>
    <p:sldId id="454" r:id="rId9"/>
    <p:sldId id="455" r:id="rId10"/>
    <p:sldId id="456" r:id="rId11"/>
    <p:sldId id="457" r:id="rId12"/>
    <p:sldId id="458" r:id="rId13"/>
    <p:sldId id="459" r:id="rId14"/>
    <p:sldId id="460" r:id="rId15"/>
    <p:sldId id="461" r:id="rId16"/>
    <p:sldId id="462" r:id="rId17"/>
    <p:sldId id="278" r:id="rId18"/>
    <p:sldId id="463" r:id="rId19"/>
    <p:sldId id="464" r:id="rId20"/>
    <p:sldId id="465" r:id="rId21"/>
    <p:sldId id="466" r:id="rId22"/>
    <p:sldId id="467" r:id="rId23"/>
    <p:sldId id="468" r:id="rId24"/>
    <p:sldId id="469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388D"/>
    <a:srgbClr val="B3B2CB"/>
    <a:srgbClr val="6F6CA8"/>
    <a:srgbClr val="C3F0F8"/>
    <a:srgbClr val="72DBEF"/>
    <a:srgbClr val="E2EEC4"/>
    <a:srgbClr val="BCD675"/>
    <a:srgbClr val="D1BED9"/>
    <a:srgbClr val="9366A6"/>
    <a:srgbClr val="7CDD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Стиль из темы 1 - акцент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27F97BB-C833-4FB7-BDE5-3F7075034690}" styleName="Стиль из темы 2 - акцент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46F890A9-2807-4EBB-B81D-B2AA78EC7F39}" styleName="Темный стиль 2 — акцент 5/акцент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2838BEF-8BB2-4498-84A7-C5851F593DF1}" styleName="Средний стиль 4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72" autoAdjust="0"/>
    <p:restoredTop sz="94668"/>
  </p:normalViewPr>
  <p:slideViewPr>
    <p:cSldViewPr snapToGrid="0">
      <p:cViewPr varScale="1">
        <p:scale>
          <a:sx n="63" d="100"/>
          <a:sy n="63" d="100"/>
        </p:scale>
        <p:origin x="96" y="10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A99640-FDFF-554B-8155-2A4ABB0BB1C0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B55478-82A6-BE44-8EFA-5CC00A4527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0091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70539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1702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084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80019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70376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53467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29506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02085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0054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96979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33890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49647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66041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86767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12204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79488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05734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75679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33382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11504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6346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4393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70707D-31DF-4198-B226-3E86B72270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962504C-6F4D-40E7-8C48-673B65E27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D3BBD7-AAB6-4B8E-A07C-AA3217EE8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478760-7C9F-4EAD-97A8-37EDECB58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044B74-2CE6-4717-BE07-A7E8F512D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4716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DD19CE-6856-4233-B020-94CF3DF5C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232382-DAD4-41F8-B3C7-B0214FDCB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EFBC30-F183-4D96-AE00-E67291B5A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06AE86-0A51-469D-B06F-E7B2B039B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0ED490-8851-48B1-BBB0-D43C8DE15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7465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16E289-B09A-4E72-8BB7-380E1F24E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73D96EF-4200-4D6C-8DC7-E3BBAD3BF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D91F25-F7DD-4CCA-BAF9-92B117DA7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F784E5-B5E6-4709-BCA9-69FC45F6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D31165-6A70-4C14-B73E-66E28DEDD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03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123D59-3DDA-47F2-B308-AC454A7F3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CDF3BF-7477-44BC-BA1F-7C7809CA9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052E31D-F7B9-4F58-9335-937F84C56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F9B6C25-1B17-4794-BCAF-0CCCBEF0E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7963F3A-0424-47D1-B9CC-6E9A5B851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CDD3672-519C-4F83-AA53-11B120AE0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3635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455239-15C2-4F47-B887-A7DEB4DA3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4F512C7-5BE8-4CE0-ABAA-AB66997EE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2BAB5D7-F5C5-4918-8E5B-F68E6CACD4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A85740-B5B3-4E39-9A69-DF5B549529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0D9EA6E-3670-4DD9-82E0-960B85C2F8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DF712CC-0B3C-4E68-9087-FB9EB59C5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DE5BC37-E163-4E9D-9E62-6FE9BD663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2763CB9-D774-4905-9A53-41BCA7412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074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B46F7A-A610-4C7B-8620-65A1A4782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FEC7ED2-4EAB-44BB-9772-CA3BE12C5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1D58D49-5DA8-4081-8D41-AD210AB49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964FA51-E78A-44E1-98FD-F7B16AC47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434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C9D2DBF-EBB5-451C-BE92-CC5D166CD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062A9C1-20D6-4DFB-A8B4-37740B2FD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ADE724-FD62-44CB-888F-3D4B20E31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3563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D40A2F-9A2C-4459-BFA2-7AE386515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676C02-AC5D-4012-8E79-E56712DE2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CDED3AB-6370-4255-AF69-8345192E9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6B5FE2-EFC8-42CE-AC13-B865DD4A4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C634443-4E55-4D68-AD64-DFED74FB1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B25D295-D37F-4D68-A079-DF616C27E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4331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EEE2A2-9783-4276-9375-8CA409414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77805E7-DD31-4811-8C5B-7276A6465B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79A87DF-B413-4841-A25A-8233B9B25E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E9ED02B-7073-4F31-8F59-EC154CC24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A401AB8-0660-42DF-94A3-E5093FA55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719A62D-04D5-4145-BF4A-87E627210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2228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6909AE-F391-4BD4-A0AF-9D4B2B374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0A033E7-D627-4EA3-B129-8FC5532C9A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AFE0ED-BC22-4120-8C56-A589FF297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E62388-EC02-4D58-B8E0-DAE1A678D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628FB0-8A56-4F00-9E17-4855131D9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0520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67B33A9-AB59-45D0-96AD-777DE0609F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D0F5AFB-5780-4095-82C2-7757D2720A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D9B20F-BB25-4D88-B2B0-84BFAD704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829F14-1140-4D93-BB6B-9DF5EBE44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8B2141-047B-4FCF-AA85-F0A59318B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0389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53358F0-159B-504A-B9FD-FC998DAFB9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60" b="1617"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7" name="Дата 3">
            <a:extLst>
              <a:ext uri="{FF2B5EF4-FFF2-40B4-BE49-F238E27FC236}">
                <a16:creationId xmlns:a16="http://schemas.microsoft.com/office/drawing/2014/main" id="{7723E2FE-6012-4501-ACDB-3FECEA31DB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09454" y="60304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273C401B-1B14-4810-BA37-2D3B4ECEFE53}" type="datetime1">
              <a:rPr lang="ru-RU" smtClean="0"/>
              <a:t>12.05.2026</a:t>
            </a:fld>
            <a:endParaRPr lang="ru-RU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869C74DB-AE1A-437B-ACD9-E27CA6D7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86481"/>
            <a:ext cx="10515600" cy="17719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60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8E4B5BDC-B674-4D6C-BB4A-C5841B4B4B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6017895"/>
            <a:ext cx="4140200" cy="365125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dirty="0"/>
              <a:t>вспомогательный текст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FCA9203-8CF5-40F9-9015-089D63E9FA9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1225" y="626121"/>
            <a:ext cx="2646405" cy="72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016274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B61DFC-9213-474E-A172-AC5FBBD3D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8DC243-D4F3-46F2-AA4B-17F436E5B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57041C-FBA3-4AFB-9F6C-1850A322E7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63AA36-DFB3-4BD3-B693-E730B8B63A63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A50045-E6E3-492E-841D-9D062A7C48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7BDDDA-0332-4C66-9D2A-42AA729693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649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5E7D6B06-FFB5-40E2-86F2-0A120FA3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587" y="2395771"/>
            <a:ext cx="10515600" cy="187653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br>
              <a:rPr lang="ru-RU" dirty="0"/>
            </a:b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A71DC3-7FDB-4052-9085-07C10441A584}"/>
              </a:ext>
            </a:extLst>
          </p:cNvPr>
          <p:cNvSpPr txBox="1"/>
          <p:nvPr/>
        </p:nvSpPr>
        <p:spPr>
          <a:xfrm>
            <a:off x="400050" y="2281534"/>
            <a:ext cx="1149667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Информационная система автоматизации административных процессов в учреждении дополнительного образования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135ACE-972E-4E20-A18A-9BAEDFB7E4C6}"/>
              </a:ext>
            </a:extLst>
          </p:cNvPr>
          <p:cNvSpPr txBox="1"/>
          <p:nvPr/>
        </p:nvSpPr>
        <p:spPr>
          <a:xfrm>
            <a:off x="7753350" y="5181511"/>
            <a:ext cx="4267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И.С. </a:t>
            </a:r>
            <a:r>
              <a:rPr lang="ru-RU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Гураль</a:t>
            </a:r>
            <a:b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Группа З-31-1</a:t>
            </a:r>
            <a:b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Кафедра ЭМИС, ТУСУР</a:t>
            </a:r>
            <a:b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Томск, 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06C1C6-101D-4FDF-8D11-8C79F83F5047}"/>
              </a:ext>
            </a:extLst>
          </p:cNvPr>
          <p:cNvSpPr txBox="1"/>
          <p:nvPr/>
        </p:nvSpPr>
        <p:spPr>
          <a:xfrm>
            <a:off x="2266279" y="4074964"/>
            <a:ext cx="8371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0" i="1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Отчёт по результатам преддипломной практики</a:t>
            </a:r>
            <a:endParaRPr lang="ru-RU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869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Скругленный прямоугольник 37">
            <a:extLst>
              <a:ext uri="{FF2B5EF4-FFF2-40B4-BE49-F238E27FC236}">
                <a16:creationId xmlns:a16="http://schemas.microsoft.com/office/drawing/2014/main" id="{218080C2-8675-44FA-B505-1AB9077BDB1E}"/>
              </a:ext>
            </a:extLst>
          </p:cNvPr>
          <p:cNvSpPr/>
          <p:nvPr/>
        </p:nvSpPr>
        <p:spPr>
          <a:xfrm>
            <a:off x="382057" y="2967762"/>
            <a:ext cx="11290167" cy="3639854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 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Цель и задачи практики</a:t>
            </a:r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9D6C5F-7BE9-47CD-8C58-E2A41DB378EA}"/>
              </a:ext>
            </a:extLst>
          </p:cNvPr>
          <p:cNvSpPr txBox="1"/>
          <p:nvPr/>
        </p:nvSpPr>
        <p:spPr>
          <a:xfrm>
            <a:off x="519775" y="2884224"/>
            <a:ext cx="11152449" cy="372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</a:rPr>
              <a:t>Задачи: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Уточнить требования к ИС по результатам </a:t>
            </a:r>
            <a:r>
              <a:rPr lang="ru-RU" sz="2000" dirty="0" err="1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техпрактики</a:t>
            </a:r>
            <a:r>
              <a:rPr lang="ru-RU" sz="20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Реализовать сквозной сценарий: заявка → одобрение → зачисление → журнал посещаемости.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Реализовать интерфейсы ролей (менеджер, преподаватель, родитель) и доступ к функциям по ролям.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Выполнить ручную (базовую) проверку ключевых сценариев.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Сформулировать направления развития для ВКР.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40423D-C085-4B7D-80E1-DE29C8E2DF45}"/>
              </a:ext>
            </a:extLst>
          </p:cNvPr>
          <p:cNvSpPr txBox="1"/>
          <p:nvPr/>
        </p:nvSpPr>
        <p:spPr>
          <a:xfrm>
            <a:off x="519775" y="991189"/>
            <a:ext cx="11223492" cy="1876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</a:rPr>
              <a:t>Цель:</a:t>
            </a:r>
            <a:b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Разработать и выполнить первичную эксплуатационную проверку веб‑приложения для автоматизации административных процессов учреждения дополнительного образования (на примере МАОУ «Томский Хобби‑центр»).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8FDE9EF-5F2A-427F-9436-14B8B09FF6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1220" y="220469"/>
            <a:ext cx="1195407" cy="3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8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Скругленный прямоугольник 37">
            <a:extLst>
              <a:ext uri="{FF2B5EF4-FFF2-40B4-BE49-F238E27FC236}">
                <a16:creationId xmlns:a16="http://schemas.microsoft.com/office/drawing/2014/main" id="{218080C2-8675-44FA-B505-1AB9077BDB1E}"/>
              </a:ext>
            </a:extLst>
          </p:cNvPr>
          <p:cNvSpPr/>
          <p:nvPr/>
        </p:nvSpPr>
        <p:spPr>
          <a:xfrm>
            <a:off x="382057" y="1172341"/>
            <a:ext cx="11290167" cy="5022271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Анализ предметной области</a:t>
            </a:r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40423D-C085-4B7D-80E1-DE29C8E2DF45}"/>
              </a:ext>
            </a:extLst>
          </p:cNvPr>
          <p:cNvSpPr txBox="1"/>
          <p:nvPr/>
        </p:nvSpPr>
        <p:spPr>
          <a:xfrm>
            <a:off x="515408" y="1295495"/>
            <a:ext cx="1122349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000" b="1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Ключевые проблемы (таблица 1.1):</a:t>
            </a:r>
            <a:endParaRPr lang="ru-RU" sz="2000" b="0" i="0" dirty="0">
              <a:solidFill>
                <a:srgbClr val="0F1115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Разрозненность данных (Google‑формы + Excel + бумага).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Отсутствие CRM‑воронки (потеря заявок).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Ручное планирование расписания (Excel, конфликты).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Ручная отчётность (высокие трудозатраты).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Нет оперативной аналитики.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E0B0F9-6A56-4707-BDE4-CF6C86039049}"/>
              </a:ext>
            </a:extLst>
          </p:cNvPr>
          <p:cNvSpPr txBox="1"/>
          <p:nvPr/>
        </p:nvSpPr>
        <p:spPr>
          <a:xfrm>
            <a:off x="515408" y="3464929"/>
            <a:ext cx="1122349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000" b="1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Объект и предмет исследования:</a:t>
            </a:r>
            <a:endParaRPr lang="ru-RU" sz="2000" b="0" i="0" dirty="0">
              <a:solidFill>
                <a:srgbClr val="0F1115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endParaRPr lang="ru-RU" sz="2000" b="0" i="1" dirty="0">
              <a:solidFill>
                <a:srgbClr val="0F1115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ru-RU" sz="2000" b="0" i="1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Объект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: дополнительное образование школьников (заявки, группы, расписание, учёт, отчётность).</a:t>
            </a:r>
          </a:p>
          <a:p>
            <a:pPr algn="l"/>
            <a:endParaRPr lang="ru-RU" sz="2000" b="0" i="1" dirty="0">
              <a:solidFill>
                <a:srgbClr val="0F1115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ru-RU" sz="2000" b="0" i="1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Предмет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: административные процессы как источник требований к ИС (на примере МАОУ «Томский Хобби‑центр»).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654A118-3114-4A47-B86C-29121421EF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1220" y="220469"/>
            <a:ext cx="1195407" cy="3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004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Сравнение существующих решений</a:t>
            </a:r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4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AC3029A4-10BF-488C-B1C6-1C02D1424D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830371"/>
              </p:ext>
            </p:extLst>
          </p:nvPr>
        </p:nvGraphicFramePr>
        <p:xfrm>
          <a:off x="558921" y="1261796"/>
          <a:ext cx="10515600" cy="23241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247285">
                  <a:extLst>
                    <a:ext uri="{9D8B030D-6E8A-4147-A177-3AD203B41FA5}">
                      <a16:colId xmlns:a16="http://schemas.microsoft.com/office/drawing/2014/main" val="3853319136"/>
                    </a:ext>
                  </a:extLst>
                </a:gridCol>
                <a:gridCol w="2756105">
                  <a:extLst>
                    <a:ext uri="{9D8B030D-6E8A-4147-A177-3AD203B41FA5}">
                      <a16:colId xmlns:a16="http://schemas.microsoft.com/office/drawing/2014/main" val="2169157826"/>
                    </a:ext>
                  </a:extLst>
                </a:gridCol>
                <a:gridCol w="2756105">
                  <a:extLst>
                    <a:ext uri="{9D8B030D-6E8A-4147-A177-3AD203B41FA5}">
                      <a16:colId xmlns:a16="http://schemas.microsoft.com/office/drawing/2014/main" val="1747356773"/>
                    </a:ext>
                  </a:extLst>
                </a:gridCol>
                <a:gridCol w="2756105">
                  <a:extLst>
                    <a:ext uri="{9D8B030D-6E8A-4147-A177-3AD203B41FA5}">
                      <a16:colId xmlns:a16="http://schemas.microsoft.com/office/drawing/2014/main" val="31512029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Система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Клиенты/заявки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Учебный процесс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Гос. отчётность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275808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Bitrix24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 (воронка)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❌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❌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301191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1С: Школа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❌ (</a:t>
                      </a:r>
                      <a:r>
                        <a:rPr lang="en-US" b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CRM </a:t>
                      </a:r>
                      <a:r>
                        <a:rPr lang="ru-RU" b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нет)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532597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Аверс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❌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 (эталон)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773867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ListOk CRM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✅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❌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97276751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4AC154F-D6DD-44EF-9D0E-294D9F5689B7}"/>
              </a:ext>
            </a:extLst>
          </p:cNvPr>
          <p:cNvSpPr txBox="1"/>
          <p:nvPr/>
        </p:nvSpPr>
        <p:spPr>
          <a:xfrm>
            <a:off x="378072" y="3893109"/>
            <a:ext cx="1143585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Вывод</a:t>
            </a:r>
            <a:r>
              <a:rPr lang="ru-RU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ru-RU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ни одна система не закрывает все три контура сразу → разработка собственного веб‑приложения.</a:t>
            </a:r>
          </a:p>
          <a:p>
            <a:pPr algn="l"/>
            <a:endParaRPr lang="ru-RU" b="1" i="0" dirty="0">
              <a:solidFill>
                <a:srgbClr val="0F1115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Сформулированы требования: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Функциональные</a:t>
            </a:r>
            <a:r>
              <a:rPr lang="ru-RU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ru-RU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работа с заявками и статусами; учёт контингента и групп; расписание и журнал посещаемости; основа для отчётных сводов</a:t>
            </a:r>
            <a:endParaRPr lang="ru-RU" b="0" i="0" dirty="0">
              <a:solidFill>
                <a:srgbClr val="0F1115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Нефункциональные</a:t>
            </a:r>
            <a:r>
              <a:rPr lang="ru-RU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ru-RU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 разграничение прав по ролям; веб-доступ и единый интерфейс для ролей; в перспективе эксплуатации — HTTPS, аудит действий, требования к отклику и нагрузке</a:t>
            </a:r>
            <a:endParaRPr lang="ru-RU" b="0" i="0" dirty="0">
              <a:solidFill>
                <a:srgbClr val="0F1115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EFFFAFF-2DC6-413A-BA48-E5E74A5561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1220" y="220469"/>
            <a:ext cx="1195407" cy="3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213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37">
            <a:extLst>
              <a:ext uri="{FF2B5EF4-FFF2-40B4-BE49-F238E27FC236}">
                <a16:creationId xmlns:a16="http://schemas.microsoft.com/office/drawing/2014/main" id="{A355B21D-D727-47E2-9773-1D95B3BF7174}"/>
              </a:ext>
            </a:extLst>
          </p:cNvPr>
          <p:cNvSpPr/>
          <p:nvPr/>
        </p:nvSpPr>
        <p:spPr>
          <a:xfrm>
            <a:off x="328269" y="1164094"/>
            <a:ext cx="10219267" cy="2556259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 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Технологический стек и архитектура</a:t>
            </a:r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5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9D6C5F-7BE9-47CD-8C58-E2A41DB378EA}"/>
              </a:ext>
            </a:extLst>
          </p:cNvPr>
          <p:cNvSpPr txBox="1"/>
          <p:nvPr/>
        </p:nvSpPr>
        <p:spPr>
          <a:xfrm>
            <a:off x="539354" y="1480718"/>
            <a:ext cx="9937464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Технологический стек: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Backend:</a:t>
            </a:r>
            <a:r>
              <a:rPr lang="en-US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 Python 3.13, Django 5.2 (ORM,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админка</a:t>
            </a:r>
            <a:r>
              <a:rPr lang="ru-RU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, аутентификация, защита).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DB:</a:t>
            </a:r>
            <a:r>
              <a:rPr lang="en-US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 SQLite (</a:t>
            </a:r>
            <a:r>
              <a:rPr lang="ru-RU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сейчас), </a:t>
            </a:r>
            <a:r>
              <a:rPr lang="en-US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PostgreSQL (</a:t>
            </a:r>
            <a:r>
              <a:rPr lang="ru-RU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план).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Frontend:</a:t>
            </a:r>
            <a:r>
              <a:rPr lang="en-US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 HTML, CSS, Bootstrap 5.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VCS:</a:t>
            </a:r>
            <a:r>
              <a:rPr lang="en-US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 Git, GitHub.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341ED6-8183-4AC7-B56E-E56163E534E1}"/>
              </a:ext>
            </a:extLst>
          </p:cNvPr>
          <p:cNvSpPr txBox="1"/>
          <p:nvPr/>
        </p:nvSpPr>
        <p:spPr>
          <a:xfrm>
            <a:off x="328269" y="3617354"/>
            <a:ext cx="10219266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Архитектура: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Клиент-сервер, монолит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Django</a:t>
            </a:r>
            <a:r>
              <a:rPr lang="ru-RU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Уровни: представление (шаблоны) → бизнес-логика 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views</a:t>
            </a:r>
            <a:r>
              <a:rPr lang="ru-RU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) → данные (модели + ORM).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EFEE2D-F3B1-4E36-A371-0AB806B56282}"/>
              </a:ext>
            </a:extLst>
          </p:cNvPr>
          <p:cNvSpPr txBox="1"/>
          <p:nvPr/>
        </p:nvSpPr>
        <p:spPr>
          <a:xfrm>
            <a:off x="328269" y="5020437"/>
            <a:ext cx="86274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Почему монолит?</a:t>
            </a:r>
          </a:p>
          <a:p>
            <a:r>
              <a:rPr lang="ru-RU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Система небольшая, модули сильно связаны, распределённая обработка не требуется.</a:t>
            </a:r>
          </a:p>
          <a:p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8A42B53-F57E-4FAC-B018-8B062CF4B1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1220" y="220469"/>
            <a:ext cx="1195407" cy="3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27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37">
            <a:extLst>
              <a:ext uri="{FF2B5EF4-FFF2-40B4-BE49-F238E27FC236}">
                <a16:creationId xmlns:a16="http://schemas.microsoft.com/office/drawing/2014/main" id="{A355B21D-D727-47E2-9773-1D95B3BF7174}"/>
              </a:ext>
            </a:extLst>
          </p:cNvPr>
          <p:cNvSpPr/>
          <p:nvPr/>
        </p:nvSpPr>
        <p:spPr>
          <a:xfrm>
            <a:off x="6888142" y="1375319"/>
            <a:ext cx="4990093" cy="4819293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 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Диаграмма вариантов использования</a:t>
            </a:r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6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27D118D-9643-483C-9DD9-F4387375C3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36" y="998801"/>
            <a:ext cx="6582864" cy="499357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B1E6DD2-F559-465D-B2FE-44F35AAF6E9E}"/>
              </a:ext>
            </a:extLst>
          </p:cNvPr>
          <p:cNvSpPr txBox="1"/>
          <p:nvPr/>
        </p:nvSpPr>
        <p:spPr>
          <a:xfrm>
            <a:off x="6888143" y="1844425"/>
            <a:ext cx="499009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600" b="1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Основные актёры и их действия:</a:t>
            </a:r>
            <a:endParaRPr lang="ru-RU" sz="1600" b="0" i="0" dirty="0">
              <a:solidFill>
                <a:srgbClr val="0F1115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endParaRPr lang="en-US" sz="1600" b="1" i="0" dirty="0">
              <a:solidFill>
                <a:srgbClr val="0F1115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ru-RU" sz="1600" b="1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Родитель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 → подать заявку, просмотреть личный кабинет.</a:t>
            </a:r>
          </a:p>
          <a:p>
            <a:pPr algn="l"/>
            <a:endParaRPr lang="ru-RU" sz="1600" b="1" i="0" dirty="0">
              <a:solidFill>
                <a:srgbClr val="0F1115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ru-RU" sz="1600" b="1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Менеджер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 → обработать заявку (одобрить/отклонить), проверить свободные места, уведомить родителя.</a:t>
            </a:r>
          </a:p>
          <a:p>
            <a:pPr algn="l"/>
            <a:endParaRPr lang="ru-RU" sz="1600" b="1" dirty="0">
              <a:solidFill>
                <a:srgbClr val="0F1115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ru-RU" sz="1600" b="1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Преподаватель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 → вести электронный журнал (отметить посещаемость).</a:t>
            </a:r>
          </a:p>
          <a:p>
            <a:pPr algn="l"/>
            <a:endParaRPr lang="ru-RU" sz="1600" b="1" i="0" dirty="0">
              <a:solidFill>
                <a:srgbClr val="0F1115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ru-RU" sz="1600" b="1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Администратор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 → формировать расписание, готовить отчётность (сбор по посещаемости, экспорт PDF).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E497A31-7488-40CA-BF21-BA6D2AF1D6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1220" y="220469"/>
            <a:ext cx="1195407" cy="3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967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37">
            <a:extLst>
              <a:ext uri="{FF2B5EF4-FFF2-40B4-BE49-F238E27FC236}">
                <a16:creationId xmlns:a16="http://schemas.microsoft.com/office/drawing/2014/main" id="{DB108E63-CEA9-48E0-A9F3-E51E84624003}"/>
              </a:ext>
            </a:extLst>
          </p:cNvPr>
          <p:cNvSpPr/>
          <p:nvPr/>
        </p:nvSpPr>
        <p:spPr>
          <a:xfrm>
            <a:off x="667630" y="1196926"/>
            <a:ext cx="10515600" cy="2372736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/>
              <a:t> </a:t>
            </a:r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Проектирование: данные, роли и интерфейсы</a:t>
            </a:r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7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9671F0-A20F-4C67-899A-678EBDCCD733}"/>
              </a:ext>
            </a:extLst>
          </p:cNvPr>
          <p:cNvSpPr txBox="1"/>
          <p:nvPr/>
        </p:nvSpPr>
        <p:spPr>
          <a:xfrm>
            <a:off x="815785" y="1253437"/>
            <a:ext cx="102556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Ключевые сущности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User, Parent, Pupil, Group, Schedule, Enrollment, Attendance, Payment.</a:t>
            </a:r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E9452C-A731-47A4-92BC-4682118A824C}"/>
              </a:ext>
            </a:extLst>
          </p:cNvPr>
          <p:cNvSpPr txBox="1"/>
          <p:nvPr/>
        </p:nvSpPr>
        <p:spPr>
          <a:xfrm>
            <a:off x="815787" y="1604270"/>
            <a:ext cx="101485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Связи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: 1:1, 1:M, M:N (через промежуточные модели, ORM </a:t>
            </a:r>
            <a:r>
              <a:rPr lang="ru-RU" sz="1600" b="0" i="0" dirty="0" err="1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Django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).</a:t>
            </a:r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4F89EC-D468-4EB3-B3C6-EAEA2CC97C62}"/>
              </a:ext>
            </a:extLst>
          </p:cNvPr>
          <p:cNvSpPr txBox="1"/>
          <p:nvPr/>
        </p:nvSpPr>
        <p:spPr>
          <a:xfrm>
            <a:off x="815787" y="1907669"/>
            <a:ext cx="1014854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600" b="1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Ролевая модель:</a:t>
            </a:r>
            <a:endParaRPr lang="ru-RU" sz="1600" b="0" i="0" dirty="0">
              <a:solidFill>
                <a:srgbClr val="0F1115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600" b="1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Администратор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 – через админ-панель </a:t>
            </a:r>
            <a:r>
              <a:rPr lang="ru-RU" sz="1600" b="0" i="0" dirty="0" err="1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Django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600" b="1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Менеджер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 – заявки, одобрение/отказ, перевод в зачисление.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600" b="1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Преподаватель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 – журнал посещаемости (свои группы).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600" b="1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Родитель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 – личный кабинет (ребёнок, расписание).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600" b="1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Ученик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 – пока только профиль в модели данных.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D0496E-1C15-48E0-8592-CACA9D74C26E}"/>
              </a:ext>
            </a:extLst>
          </p:cNvPr>
          <p:cNvSpPr txBox="1"/>
          <p:nvPr/>
        </p:nvSpPr>
        <p:spPr>
          <a:xfrm>
            <a:off x="815786" y="3661995"/>
            <a:ext cx="10255625" cy="1892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ru-RU" sz="1600" b="1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Интерфейсы:</a:t>
            </a:r>
            <a:endParaRPr lang="ru-RU" sz="1600" b="0" i="0" dirty="0">
              <a:solidFill>
                <a:srgbClr val="0F1115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Менеджер → список заявок, фильтрация, одобрение/отказ.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Преподаватель → выбор группы → занятие → отметка посещаемости (повторная загрузка и корректировка).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Родитель → личный кабинет, дети, расписание, </a:t>
            </a:r>
            <a:r>
              <a:rPr lang="ru-RU" sz="1600" dirty="0">
                <a:solidFill>
                  <a:srgbClr val="0F111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редактирование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данных заявки.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A03687-1D6A-4A72-92C2-0DE194EA1A57}"/>
              </a:ext>
            </a:extLst>
          </p:cNvPr>
          <p:cNvSpPr txBox="1"/>
          <p:nvPr/>
        </p:nvSpPr>
        <p:spPr>
          <a:xfrm>
            <a:off x="815785" y="5661074"/>
            <a:ext cx="103674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Безопасность: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 </a:t>
            </a:r>
            <a:r>
              <a:rPr lang="ru-RU" sz="1600" b="0" i="0" dirty="0">
                <a:solidFill>
                  <a:srgbClr val="222222"/>
                </a:solidFill>
                <a:effectLst/>
                <a:latin typeface="Segoe WPC"/>
              </a:rPr>
              <a:t>разграничение на уровне представлений и навигации; углублённые меры </a:t>
            </a:r>
            <a:r>
              <a:rPr lang="ru-RU" sz="1600" b="0" i="0" dirty="0" err="1">
                <a:solidFill>
                  <a:srgbClr val="222222"/>
                </a:solidFill>
                <a:effectLst/>
                <a:latin typeface="Segoe WPC"/>
              </a:rPr>
              <a:t>ПДн</a:t>
            </a:r>
            <a:r>
              <a:rPr lang="ru-RU" sz="1600" b="0" i="0" dirty="0">
                <a:solidFill>
                  <a:srgbClr val="222222"/>
                </a:solidFill>
                <a:effectLst/>
                <a:latin typeface="Segoe WPC"/>
              </a:rPr>
              <a:t> — </a:t>
            </a:r>
            <a:r>
              <a:rPr lang="ru-RU" sz="1600" b="1" i="0" dirty="0">
                <a:solidFill>
                  <a:srgbClr val="222222"/>
                </a:solidFill>
                <a:effectLst/>
                <a:latin typeface="Segoe WPC"/>
              </a:rPr>
              <a:t>в перспективе ВКР</a:t>
            </a:r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AD23850-F8A6-4A83-AA13-C1C9EB63FF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1220" y="220469"/>
            <a:ext cx="1195407" cy="3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518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37">
            <a:extLst>
              <a:ext uri="{FF2B5EF4-FFF2-40B4-BE49-F238E27FC236}">
                <a16:creationId xmlns:a16="http://schemas.microsoft.com/office/drawing/2014/main" id="{DB108E63-CEA9-48E0-A9F3-E51E84624003}"/>
              </a:ext>
            </a:extLst>
          </p:cNvPr>
          <p:cNvSpPr/>
          <p:nvPr/>
        </p:nvSpPr>
        <p:spPr>
          <a:xfrm>
            <a:off x="694524" y="1518127"/>
            <a:ext cx="10515600" cy="2372736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/>
              <a:t> </a:t>
            </a:r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1220" y="220469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235373" y="210786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Организация разработки и технические решения</a:t>
            </a:r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8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9671F0-A20F-4C67-899A-678EBDCCD733}"/>
              </a:ext>
            </a:extLst>
          </p:cNvPr>
          <p:cNvSpPr txBox="1"/>
          <p:nvPr/>
        </p:nvSpPr>
        <p:spPr>
          <a:xfrm>
            <a:off x="699244" y="1574638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Стек: 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Python 3.13, Django 5.2; 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паттерн 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MTV; 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представления на базе 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class-based views.</a:t>
            </a:r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E9452C-A731-47A4-92BC-4682118A824C}"/>
              </a:ext>
            </a:extLst>
          </p:cNvPr>
          <p:cNvSpPr txBox="1"/>
          <p:nvPr/>
        </p:nvSpPr>
        <p:spPr>
          <a:xfrm>
            <a:off x="699244" y="2023958"/>
            <a:ext cx="105108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Модули проекта: </a:t>
            </a:r>
            <a:r>
              <a:rPr lang="ru-RU" sz="1600" i="0" dirty="0" err="1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config</a:t>
            </a:r>
            <a:r>
              <a:rPr lang="ru-RU" sz="160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ru-RU" sz="1600" i="0" dirty="0" err="1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users</a:t>
            </a:r>
            <a:r>
              <a:rPr lang="ru-RU" sz="160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ru-RU" sz="1600" i="0" dirty="0" err="1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accounts</a:t>
            </a:r>
            <a:r>
              <a:rPr lang="ru-RU" sz="160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ru-RU" sz="1600" i="0" dirty="0" err="1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core</a:t>
            </a:r>
            <a:r>
              <a:rPr lang="ru-RU" sz="160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ru-RU" sz="1600" i="0" dirty="0" err="1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schedule</a:t>
            </a:r>
            <a:r>
              <a:rPr lang="ru-RU" sz="160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— разнесение моделей и представлений по доменным приложениям.</a:t>
            </a:r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D35BFD-A639-4F30-9C02-49EB79EC451B}"/>
              </a:ext>
            </a:extLst>
          </p:cNvPr>
          <p:cNvSpPr txBox="1"/>
          <p:nvPr/>
        </p:nvSpPr>
        <p:spPr>
          <a:xfrm>
            <a:off x="689804" y="2703988"/>
            <a:ext cx="105108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222222"/>
                </a:solidFill>
                <a:effectLst/>
                <a:latin typeface="Segoe WPC"/>
              </a:rPr>
              <a:t>Данные:</a:t>
            </a:r>
            <a:r>
              <a:rPr lang="ru-RU" b="0" i="0" dirty="0">
                <a:solidFill>
                  <a:srgbClr val="222222"/>
                </a:solidFill>
                <a:effectLst/>
                <a:latin typeface="Segoe WPC"/>
              </a:rPr>
              <a:t> описание сущностей через </a:t>
            </a:r>
            <a:r>
              <a:rPr lang="ru-RU" b="1" i="0" dirty="0" err="1">
                <a:solidFill>
                  <a:srgbClr val="222222"/>
                </a:solidFill>
                <a:effectLst/>
                <a:latin typeface="Segoe WPC"/>
              </a:rPr>
              <a:t>Django</a:t>
            </a:r>
            <a:r>
              <a:rPr lang="ru-RU" b="1" i="0" dirty="0">
                <a:solidFill>
                  <a:srgbClr val="222222"/>
                </a:solidFill>
                <a:effectLst/>
                <a:latin typeface="Segoe WPC"/>
              </a:rPr>
              <a:t> ORM</a:t>
            </a:r>
            <a:r>
              <a:rPr lang="ru-RU" b="0" i="0" dirty="0">
                <a:solidFill>
                  <a:srgbClr val="222222"/>
                </a:solidFill>
                <a:effectLst/>
                <a:latin typeface="Segoe WPC"/>
              </a:rPr>
              <a:t>; эволюция схемы через </a:t>
            </a:r>
            <a:r>
              <a:rPr lang="ru-RU" b="1" i="0" dirty="0">
                <a:solidFill>
                  <a:srgbClr val="222222"/>
                </a:solidFill>
                <a:effectLst/>
                <a:latin typeface="Segoe WPC"/>
              </a:rPr>
              <a:t>миграции</a:t>
            </a:r>
            <a:r>
              <a:rPr lang="ru-RU" b="0" i="0" dirty="0">
                <a:solidFill>
                  <a:srgbClr val="222222"/>
                </a:solidFill>
                <a:effectLst/>
                <a:latin typeface="Segoe WPC"/>
              </a:rPr>
              <a:t>; локально использовалась </a:t>
            </a:r>
            <a:r>
              <a:rPr lang="ru-RU" b="1" i="0" dirty="0" err="1">
                <a:solidFill>
                  <a:srgbClr val="222222"/>
                </a:solidFill>
                <a:effectLst/>
                <a:latin typeface="Segoe WPC"/>
              </a:rPr>
              <a:t>SQLite</a:t>
            </a:r>
            <a:r>
              <a:rPr lang="ru-RU" b="0" i="0" dirty="0">
                <a:solidFill>
                  <a:srgbClr val="222222"/>
                </a:solidFill>
                <a:effectLst/>
                <a:latin typeface="Segoe WPC"/>
              </a:rPr>
              <a:t> как упрощённая СУБД разработки.</a:t>
            </a:r>
            <a:endParaRPr lang="ru-RU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31169A-D05F-4207-88D4-2415BDBD415E}"/>
              </a:ext>
            </a:extLst>
          </p:cNvPr>
          <p:cNvSpPr txBox="1"/>
          <p:nvPr/>
        </p:nvSpPr>
        <p:spPr>
          <a:xfrm>
            <a:off x="689804" y="3448521"/>
            <a:ext cx="10506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Интерфейс и ресурсы: </a:t>
            </a:r>
            <a:r>
              <a:rPr lang="en-US" dirty="0"/>
              <a:t>HTML/CSS‑</a:t>
            </a:r>
            <a:r>
              <a:rPr lang="ru-RU" dirty="0"/>
              <a:t>шаблоны каталога </a:t>
            </a:r>
            <a:r>
              <a:rPr lang="en-US" dirty="0"/>
              <a:t>templates/ </a:t>
            </a:r>
            <a:r>
              <a:rPr lang="ru-RU" dirty="0"/>
              <a:t>при поддержке </a:t>
            </a:r>
            <a:r>
              <a:rPr lang="en-US" dirty="0"/>
              <a:t>Bootstrap 5.</a:t>
            </a:r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C2F6CA-98DB-4C8F-8CA3-A433CA2B2118}"/>
              </a:ext>
            </a:extLst>
          </p:cNvPr>
          <p:cNvSpPr txBox="1"/>
          <p:nvPr/>
        </p:nvSpPr>
        <p:spPr>
          <a:xfrm>
            <a:off x="680363" y="4079924"/>
            <a:ext cx="105250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Воспроизводимость окружения: </a:t>
            </a:r>
            <a:r>
              <a:rPr lang="ru-RU" dirty="0"/>
              <a:t>requirements.txt, переменные окружения, синхронизация БД через миграции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E674EF-CC9E-4546-9AFE-01D5E8676552}"/>
              </a:ext>
            </a:extLst>
          </p:cNvPr>
          <p:cNvSpPr txBox="1"/>
          <p:nvPr/>
        </p:nvSpPr>
        <p:spPr>
          <a:xfrm>
            <a:off x="680363" y="4915317"/>
            <a:ext cx="99060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222222"/>
                </a:solidFill>
                <a:effectLst/>
                <a:latin typeface="Segoe WPC"/>
              </a:rPr>
              <a:t>Управление кодом:</a:t>
            </a:r>
            <a:r>
              <a:rPr lang="ru-RU" b="0" i="0" dirty="0">
                <a:solidFill>
                  <a:srgbClr val="222222"/>
                </a:solidFill>
                <a:effectLst/>
                <a:latin typeface="Segoe WPC"/>
              </a:rPr>
              <a:t> </a:t>
            </a:r>
            <a:r>
              <a:rPr lang="ru-RU" b="1" i="0" dirty="0" err="1">
                <a:solidFill>
                  <a:srgbClr val="222222"/>
                </a:solidFill>
                <a:effectLst/>
                <a:latin typeface="Segoe WPC"/>
              </a:rPr>
              <a:t>Git</a:t>
            </a:r>
            <a:r>
              <a:rPr lang="ru-RU" b="0" i="0" dirty="0">
                <a:solidFill>
                  <a:srgbClr val="222222"/>
                </a:solidFill>
                <a:effectLst/>
                <a:latin typeface="Segoe WPC"/>
              </a:rPr>
              <a:t>, удалённый репозиторий.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4475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37">
            <a:extLst>
              <a:ext uri="{FF2B5EF4-FFF2-40B4-BE49-F238E27FC236}">
                <a16:creationId xmlns:a16="http://schemas.microsoft.com/office/drawing/2014/main" id="{DB108E63-CEA9-48E0-A9F3-E51E84624003}"/>
              </a:ext>
            </a:extLst>
          </p:cNvPr>
          <p:cNvSpPr/>
          <p:nvPr/>
        </p:nvSpPr>
        <p:spPr>
          <a:xfrm>
            <a:off x="667629" y="1196926"/>
            <a:ext cx="10856607" cy="3197274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/>
              <a:t> </a:t>
            </a:r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1220" y="220469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653468" y="223288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Реализация базы данных</a:t>
            </a:r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9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B92A20-969C-4233-BD58-BA081B688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468" y="1606896"/>
            <a:ext cx="65" cy="323141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38088" rIns="0" bIns="38088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ru-RU" altLang="ru-RU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6914B4-FD7E-49AB-8205-2FC40ECE77AE}"/>
              </a:ext>
            </a:extLst>
          </p:cNvPr>
          <p:cNvSpPr txBox="1"/>
          <p:nvPr/>
        </p:nvSpPr>
        <p:spPr>
          <a:xfrm>
            <a:off x="667631" y="1288638"/>
            <a:ext cx="10515533" cy="2944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1800" b="1" dirty="0">
                <a:solidFill>
                  <a:srgbClr val="22222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Реализация по приложениям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ru-RU" sz="1800" b="1" dirty="0">
                <a:solidFill>
                  <a:srgbClr val="22222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accounts: </a:t>
            </a:r>
            <a:r>
              <a:rPr lang="ru-RU" altLang="ru-RU" sz="1800" dirty="0">
                <a:solidFill>
                  <a:srgbClr val="22222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профили </a:t>
            </a:r>
            <a:r>
              <a:rPr lang="en-US" altLang="ru-RU" sz="1800" dirty="0">
                <a:solidFill>
                  <a:srgbClr val="22222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Parent, Teacher, Manager, Pupil </a:t>
            </a:r>
            <a:r>
              <a:rPr lang="ru-RU" altLang="ru-RU" sz="1800" dirty="0">
                <a:solidFill>
                  <a:srgbClr val="22222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со связью 1:1 с </a:t>
            </a:r>
            <a:r>
              <a:rPr lang="en-US" altLang="ru-RU" sz="1800" dirty="0">
                <a:solidFill>
                  <a:srgbClr val="22222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User Django; </a:t>
            </a:r>
            <a:r>
              <a:rPr lang="ru-RU" altLang="ru-RU" sz="1800" dirty="0">
                <a:solidFill>
                  <a:srgbClr val="22222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связь родитель–ребёнок как </a:t>
            </a:r>
            <a:r>
              <a:rPr lang="en-US" altLang="ru-RU" sz="1800" dirty="0">
                <a:solidFill>
                  <a:srgbClr val="22222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M:N (</a:t>
            </a:r>
            <a:r>
              <a:rPr lang="ru-RU" altLang="ru-RU" sz="1800" dirty="0">
                <a:solidFill>
                  <a:srgbClr val="22222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многие ко многим) в предметной модели.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ru-RU" sz="1800" b="1" dirty="0">
                <a:solidFill>
                  <a:srgbClr val="22222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core: </a:t>
            </a:r>
            <a:r>
              <a:rPr lang="en-US" altLang="ru-RU" sz="1800" dirty="0">
                <a:solidFill>
                  <a:srgbClr val="22222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Course, Application (</a:t>
            </a:r>
            <a:r>
              <a:rPr lang="ru-RU" altLang="ru-RU" sz="1800" dirty="0">
                <a:solidFill>
                  <a:srgbClr val="22222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заявка с полем статуса: новая / одобрена / отклонена и др. по вашей модели).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ru-RU" sz="1800" b="1" dirty="0">
                <a:solidFill>
                  <a:srgbClr val="22222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schedule: </a:t>
            </a:r>
            <a:r>
              <a:rPr lang="en-US" altLang="ru-RU" sz="1800" dirty="0">
                <a:solidFill>
                  <a:srgbClr val="22222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Group, Enrollment, Schedule, Attendance, Payment — </a:t>
            </a:r>
            <a:r>
              <a:rPr lang="ru-RU" altLang="ru-RU" sz="1800" dirty="0">
                <a:solidFill>
                  <a:srgbClr val="22222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учебные группы, зачисления, занятия, посещаемость, учёт платежей.</a:t>
            </a:r>
            <a:endParaRPr kumimoji="0" lang="ru-RU" altLang="ru-RU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ACC073-104A-4E8E-B265-260FE8EFC2B2}"/>
              </a:ext>
            </a:extLst>
          </p:cNvPr>
          <p:cNvSpPr txBox="1"/>
          <p:nvPr/>
        </p:nvSpPr>
        <p:spPr>
          <a:xfrm>
            <a:off x="667629" y="4434089"/>
            <a:ext cx="10856606" cy="1889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ru-RU" sz="1600" b="1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Технические решения</a:t>
            </a:r>
            <a:endParaRPr lang="ru-RU" sz="1600" b="0" i="0" dirty="0">
              <a:solidFill>
                <a:srgbClr val="222222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ru-RU" sz="1600" b="1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Миграции </a:t>
            </a:r>
            <a:r>
              <a:rPr lang="ru-RU" sz="1600" b="1" i="0" dirty="0" err="1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Django</a:t>
            </a:r>
            <a:r>
              <a:rPr lang="ru-RU" sz="16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 — пошаговое изменение схемы БД без ручного правления таблиц, единый механизм на разных машинах.</a:t>
            </a:r>
          </a:p>
          <a:p>
            <a:pPr algn="l">
              <a:lnSpc>
                <a:spcPct val="150000"/>
              </a:lnSpc>
            </a:pPr>
            <a:r>
              <a:rPr lang="ru-RU" sz="1600" b="1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Пользовательские менеджеры моделей</a:t>
            </a:r>
            <a:r>
              <a:rPr lang="ru-RU" sz="16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 — упрощение повторяющихся выборок (например, опубликованные курсы, выборки по статусу/дате зачисления ученика).</a:t>
            </a:r>
          </a:p>
        </p:txBody>
      </p:sp>
    </p:spTree>
    <p:extLst>
      <p:ext uri="{BB962C8B-B14F-4D97-AF65-F5344CB8AC3E}">
        <p14:creationId xmlns:p14="http://schemas.microsoft.com/office/powerpoint/2010/main" val="1111344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37">
            <a:extLst>
              <a:ext uri="{FF2B5EF4-FFF2-40B4-BE49-F238E27FC236}">
                <a16:creationId xmlns:a16="http://schemas.microsoft.com/office/drawing/2014/main" id="{DB108E63-CEA9-48E0-A9F3-E51E84624003}"/>
              </a:ext>
            </a:extLst>
          </p:cNvPr>
          <p:cNvSpPr/>
          <p:nvPr/>
        </p:nvSpPr>
        <p:spPr>
          <a:xfrm>
            <a:off x="667629" y="1196926"/>
            <a:ext cx="10856607" cy="3074387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/>
              <a:t> </a:t>
            </a:r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1220" y="220469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653468" y="223288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Аутентификация и ролевая модель</a:t>
            </a:r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10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B92A20-969C-4233-BD58-BA081B688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468" y="1606896"/>
            <a:ext cx="65" cy="323141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38088" rIns="0" bIns="38088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ru-RU" altLang="ru-RU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64814A-B5F4-4B11-9663-B0E9C793BB3B}"/>
              </a:ext>
            </a:extLst>
          </p:cNvPr>
          <p:cNvSpPr txBox="1"/>
          <p:nvPr/>
        </p:nvSpPr>
        <p:spPr>
          <a:xfrm>
            <a:off x="667629" y="1166843"/>
            <a:ext cx="1080299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Аутентификация и учётные записи</a:t>
            </a:r>
          </a:p>
          <a:p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Использована встроенная подсистема аутентификации 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Django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: регистрация, вход/выход, настройки 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перенаправлений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Профили ролей</a:t>
            </a:r>
          </a:p>
          <a:p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Ролевые атрибуты вынесены в отдельные модели (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Parent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Teacher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, Manager, 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Pupil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) со связью «один к одному» с User. Профиль не создаётся автоматически при регистрации, а появляется в прикладных сценариях (например, после одобрения заявки) или через административный контур.</a:t>
            </a:r>
          </a:p>
          <a:p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Выбор роли после входа</a:t>
            </a:r>
          </a:p>
          <a:p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После успешной авторизации отображается экран выбора роли; доступны только те роли, для которых у пользователя существует соответствующий профиль в БД.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3A22D6-40F4-42BF-8DF1-477609FEE30E}"/>
              </a:ext>
            </a:extLst>
          </p:cNvPr>
          <p:cNvSpPr txBox="1"/>
          <p:nvPr/>
        </p:nvSpPr>
        <p:spPr>
          <a:xfrm>
            <a:off x="667630" y="4333214"/>
            <a:ext cx="10856606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Разграничение доступа</a:t>
            </a:r>
          </a:p>
          <a:p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Для закрытых страниц применяются 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LoginRequiredMixin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 и проверка наличия нужного профиля (например, 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parent_profile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teacher_profile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manager_profile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).</a:t>
            </a: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Восстановление пароля</a:t>
            </a:r>
          </a:p>
          <a:p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Реализовано штатными средствами 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Django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 (письмо со ссылкой и смена пароля по токену).</a:t>
            </a:r>
          </a:p>
        </p:txBody>
      </p:sp>
    </p:spTree>
    <p:extLst>
      <p:ext uri="{BB962C8B-B14F-4D97-AF65-F5344CB8AC3E}">
        <p14:creationId xmlns:p14="http://schemas.microsoft.com/office/powerpoint/2010/main" val="304394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1220" y="220469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653468" y="223288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Аутентификация и ролевая модель</a:t>
            </a:r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11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CDCC2FD-400C-44D7-815B-9CE819CD2A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006" y="1120949"/>
            <a:ext cx="5090994" cy="2619753"/>
          </a:xfrm>
          <a:prstGeom prst="rect">
            <a:avLst/>
          </a:prstGeo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D8622FE-FF2E-40B3-8A06-C450F80813B5}"/>
              </a:ext>
            </a:extLst>
          </p:cNvPr>
          <p:cNvSpPr/>
          <p:nvPr/>
        </p:nvSpPr>
        <p:spPr>
          <a:xfrm rot="16200000" flipV="1">
            <a:off x="4106042" y="3813726"/>
            <a:ext cx="4800530" cy="45719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679471B-AC0D-433E-9A91-B774AC1C83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1306" y="2304858"/>
            <a:ext cx="5268743" cy="249301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083E19B-1334-4BD9-8CE9-560888ABB2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365" y="4015073"/>
            <a:ext cx="5048276" cy="240998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F4722E5-8FCA-471A-8B59-E8438B9FCA70}"/>
              </a:ext>
            </a:extLst>
          </p:cNvPr>
          <p:cNvSpPr txBox="1"/>
          <p:nvPr/>
        </p:nvSpPr>
        <p:spPr>
          <a:xfrm>
            <a:off x="2842770" y="3707296"/>
            <a:ext cx="20436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Форма входа</a:t>
            </a:r>
            <a:endParaRPr lang="ru-RU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60B17C-9AAF-4203-8A96-424870D121DF}"/>
              </a:ext>
            </a:extLst>
          </p:cNvPr>
          <p:cNvSpPr txBox="1"/>
          <p:nvPr/>
        </p:nvSpPr>
        <p:spPr>
          <a:xfrm>
            <a:off x="1139477" y="6159459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Выбор роли (доступны только созданные профили)</a:t>
            </a:r>
            <a:endParaRPr lang="ru-RU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A27702E-A1E4-46AF-9E86-F1BB6FF1A518}"/>
              </a:ext>
            </a:extLst>
          </p:cNvPr>
          <p:cNvSpPr txBox="1"/>
          <p:nvPr/>
        </p:nvSpPr>
        <p:spPr>
          <a:xfrm>
            <a:off x="7035914" y="4865693"/>
            <a:ext cx="49207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0" i="0" dirty="0">
                <a:solidFill>
                  <a:srgbClr val="222222"/>
                </a:solidFill>
                <a:effectLst/>
                <a:latin typeface="Segoe WPC"/>
              </a:rPr>
              <a:t>Восстановление пароля (штатный механизм </a:t>
            </a:r>
            <a:r>
              <a:rPr lang="ru-RU" sz="1400" b="0" i="0" dirty="0" err="1">
                <a:solidFill>
                  <a:srgbClr val="222222"/>
                </a:solidFill>
                <a:effectLst/>
                <a:latin typeface="Segoe WPC"/>
              </a:rPr>
              <a:t>Django</a:t>
            </a:r>
            <a:r>
              <a:rPr lang="ru-RU" sz="1400" b="0" i="0" dirty="0">
                <a:solidFill>
                  <a:srgbClr val="222222"/>
                </a:solidFill>
                <a:effectLst/>
                <a:latin typeface="Segoe WPC"/>
              </a:rPr>
              <a:t>)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024226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37">
            <a:extLst>
              <a:ext uri="{FF2B5EF4-FFF2-40B4-BE49-F238E27FC236}">
                <a16:creationId xmlns:a16="http://schemas.microsoft.com/office/drawing/2014/main" id="{DB108E63-CEA9-48E0-A9F3-E51E84624003}"/>
              </a:ext>
            </a:extLst>
          </p:cNvPr>
          <p:cNvSpPr/>
          <p:nvPr/>
        </p:nvSpPr>
        <p:spPr>
          <a:xfrm>
            <a:off x="667629" y="1091392"/>
            <a:ext cx="10856607" cy="4654984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/>
              <a:t> </a:t>
            </a:r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1220" y="220469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653468" y="223288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Бизнес-логика: сквозной сценарий</a:t>
            </a:r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12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B92A20-969C-4233-BD58-BA081B688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468" y="1606896"/>
            <a:ext cx="65" cy="323141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38088" rIns="0" bIns="38088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ru-RU" altLang="ru-RU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64814A-B5F4-4B11-9663-B0E9C793BB3B}"/>
              </a:ext>
            </a:extLst>
          </p:cNvPr>
          <p:cNvSpPr txBox="1"/>
          <p:nvPr/>
        </p:nvSpPr>
        <p:spPr>
          <a:xfrm>
            <a:off x="759848" y="1104696"/>
            <a:ext cx="10802999" cy="4474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Процесс «заявка → зачисление → журнал»</a:t>
            </a:r>
          </a:p>
          <a:p>
            <a:pPr>
              <a:lnSpc>
                <a:spcPct val="150000"/>
              </a:lnSpc>
            </a:pPr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Родитель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 подаёт заявку на курс — в системе создаётся запись Application со статусом «новая» (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new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).</a:t>
            </a:r>
          </a:p>
          <a:p>
            <a:pPr>
              <a:lnSpc>
                <a:spcPct val="150000"/>
              </a:lnSpc>
            </a:pPr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Менеджер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 рассматривает заявку и выполняет одобрение (или отклонение).</a:t>
            </a:r>
          </a:p>
          <a:p>
            <a:pPr>
              <a:lnSpc>
                <a:spcPct val="150000"/>
              </a:lnSpc>
            </a:pPr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При одобрении 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серверная логика обеспечивает: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создание / повторное использование учётной записи родителя и профиля 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Parent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 (по данным заявки);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создание учётной записи и профиля 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Pupil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установление связи «родитель — ребёнок» в модели данных (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ManyToMany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);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создание записи 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Enrollment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 (зачисление в учебную группу по правилам текущей реализации).</a:t>
            </a:r>
          </a:p>
          <a:p>
            <a:pPr>
              <a:lnSpc>
                <a:spcPct val="150000"/>
              </a:lnSpc>
            </a:pPr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Преподаватель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 ведёт электронный журнал: фиксирует посещаемость по занятию — данные сохраняются в 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Attendance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7AC645-DE5A-4BEC-B3D8-79637D36D374}"/>
              </a:ext>
            </a:extLst>
          </p:cNvPr>
          <p:cNvSpPr txBox="1"/>
          <p:nvPr/>
        </p:nvSpPr>
        <p:spPr>
          <a:xfrm>
            <a:off x="667629" y="5676993"/>
            <a:ext cx="108705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222222"/>
                </a:solidFill>
                <a:effectLst/>
                <a:latin typeface="Segoe WPC"/>
              </a:rPr>
              <a:t>Результат:</a:t>
            </a:r>
            <a:r>
              <a:rPr lang="ru-RU" b="0" i="0" dirty="0">
                <a:solidFill>
                  <a:srgbClr val="222222"/>
                </a:solidFill>
                <a:effectLst/>
                <a:latin typeface="Segoe WPC"/>
              </a:rPr>
              <a:t> единый контур данных по заявке и зачислению без ручного переноса между разрозненными таблицами; снижается риск расхождений и потери информации.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9962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37">
            <a:extLst>
              <a:ext uri="{FF2B5EF4-FFF2-40B4-BE49-F238E27FC236}">
                <a16:creationId xmlns:a16="http://schemas.microsoft.com/office/drawing/2014/main" id="{DB108E63-CEA9-48E0-A9F3-E51E84624003}"/>
              </a:ext>
            </a:extLst>
          </p:cNvPr>
          <p:cNvSpPr/>
          <p:nvPr/>
        </p:nvSpPr>
        <p:spPr>
          <a:xfrm>
            <a:off x="667629" y="1091391"/>
            <a:ext cx="11114531" cy="4834279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/>
              <a:t> </a:t>
            </a:r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1220" y="220469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653468" y="223288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Пользовательские интерфейсы (по ролям)</a:t>
            </a:r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13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B92A20-969C-4233-BD58-BA081B688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468" y="1606896"/>
            <a:ext cx="65" cy="323141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38088" rIns="0" bIns="38088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ru-RU" altLang="ru-RU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2F7EE1-90CB-42F7-9AD6-D6E1E6830BE7}"/>
              </a:ext>
            </a:extLst>
          </p:cNvPr>
          <p:cNvSpPr txBox="1"/>
          <p:nvPr/>
        </p:nvSpPr>
        <p:spPr>
          <a:xfrm>
            <a:off x="869575" y="1478638"/>
            <a:ext cx="79427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Менеджер</a:t>
            </a:r>
            <a:r>
              <a:rPr lang="ru-RU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 → список заявок, фильтрация, одобрение/отказ.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563F11E-B520-4254-BFA3-F16C150766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575" y="2044634"/>
            <a:ext cx="10327617" cy="318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232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37">
            <a:extLst>
              <a:ext uri="{FF2B5EF4-FFF2-40B4-BE49-F238E27FC236}">
                <a16:creationId xmlns:a16="http://schemas.microsoft.com/office/drawing/2014/main" id="{DB108E63-CEA9-48E0-A9F3-E51E84624003}"/>
              </a:ext>
            </a:extLst>
          </p:cNvPr>
          <p:cNvSpPr/>
          <p:nvPr/>
        </p:nvSpPr>
        <p:spPr>
          <a:xfrm>
            <a:off x="667629" y="1091391"/>
            <a:ext cx="11114531" cy="4834279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/>
              <a:t> </a:t>
            </a:r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1220" y="220469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653468" y="223288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Пользовательские интерфейсы (по ролям)</a:t>
            </a:r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14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B92A20-969C-4233-BD58-BA081B688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468" y="1606896"/>
            <a:ext cx="65" cy="323141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38088" rIns="0" bIns="38088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ru-RU" altLang="ru-RU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2F7EE1-90CB-42F7-9AD6-D6E1E6830BE7}"/>
              </a:ext>
            </a:extLst>
          </p:cNvPr>
          <p:cNvSpPr txBox="1"/>
          <p:nvPr/>
        </p:nvSpPr>
        <p:spPr>
          <a:xfrm>
            <a:off x="855547" y="1244302"/>
            <a:ext cx="103276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Преподаватель</a:t>
            </a:r>
            <a:r>
              <a:rPr lang="ru-RU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→ выбор группы/занятия, отметка посещаемости, корректировка.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6AB99D4-668D-47F2-AA12-A1B01DC88C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6269" y="1613634"/>
            <a:ext cx="9086172" cy="419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338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37">
            <a:extLst>
              <a:ext uri="{FF2B5EF4-FFF2-40B4-BE49-F238E27FC236}">
                <a16:creationId xmlns:a16="http://schemas.microsoft.com/office/drawing/2014/main" id="{DB108E63-CEA9-48E0-A9F3-E51E84624003}"/>
              </a:ext>
            </a:extLst>
          </p:cNvPr>
          <p:cNvSpPr/>
          <p:nvPr/>
        </p:nvSpPr>
        <p:spPr>
          <a:xfrm>
            <a:off x="667629" y="1091391"/>
            <a:ext cx="11114531" cy="4834279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/>
              <a:t> </a:t>
            </a:r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1220" y="220469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653468" y="223288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Пользовательские интерфейсы (по ролям)</a:t>
            </a:r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15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B92A20-969C-4233-BD58-BA081B688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468" y="1606896"/>
            <a:ext cx="65" cy="323141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38088" rIns="0" bIns="38088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ru-RU" altLang="ru-RU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2F7EE1-90CB-42F7-9AD6-D6E1E6830BE7}"/>
              </a:ext>
            </a:extLst>
          </p:cNvPr>
          <p:cNvSpPr txBox="1"/>
          <p:nvPr/>
        </p:nvSpPr>
        <p:spPr>
          <a:xfrm>
            <a:off x="841386" y="1383590"/>
            <a:ext cx="106829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Родитель</a:t>
            </a:r>
            <a:r>
              <a:rPr lang="ru-RU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→ личный кабинет, данные ребёнка, расписание, </a:t>
            </a:r>
            <a:r>
              <a:rPr lang="ru-RU" i="0" dirty="0" err="1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дозаполнение</a:t>
            </a:r>
            <a:r>
              <a:rPr lang="ru-RU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профиля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9271DB7-1746-42B9-BA63-174617E71F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547" y="1996889"/>
            <a:ext cx="10809718" cy="2785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224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37">
            <a:extLst>
              <a:ext uri="{FF2B5EF4-FFF2-40B4-BE49-F238E27FC236}">
                <a16:creationId xmlns:a16="http://schemas.microsoft.com/office/drawing/2014/main" id="{DB108E63-CEA9-48E0-A9F3-E51E84624003}"/>
              </a:ext>
            </a:extLst>
          </p:cNvPr>
          <p:cNvSpPr/>
          <p:nvPr/>
        </p:nvSpPr>
        <p:spPr>
          <a:xfrm>
            <a:off x="667629" y="1091391"/>
            <a:ext cx="11114531" cy="4834279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/>
              <a:t> </a:t>
            </a:r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1220" y="220469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653468" y="223288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Результаты разработки (текущее состояние)</a:t>
            </a:r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16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B92A20-969C-4233-BD58-BA081B688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468" y="1606896"/>
            <a:ext cx="65" cy="323141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38088" rIns="0" bIns="38088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ru-RU" altLang="ru-RU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1F5E8E-197A-4074-A952-1CF4BB0FECCC}"/>
              </a:ext>
            </a:extLst>
          </p:cNvPr>
          <p:cNvSpPr txBox="1"/>
          <p:nvPr/>
        </p:nvSpPr>
        <p:spPr>
          <a:xfrm>
            <a:off x="660580" y="1426667"/>
            <a:ext cx="11128627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Реализовано на этапе преддипломной практики</a:t>
            </a:r>
          </a:p>
          <a:p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обработка заявок с ограничением доступа для менеджера и сменой статусов заявки;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серверный сценарий одобрения заявки с созданием/связыванием сущностей родителя, ученика и записи зачисления (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Enrollment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электронный журнал преподавателя с сохранением посещаемости, повторной загрузкой и корректировкой отметок;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ролевые пользовательские кабинеты и ролевая навигация в интерфейсе.</a:t>
            </a:r>
          </a:p>
          <a:p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Планируется в рамках ВКР</a:t>
            </a:r>
          </a:p>
          <a:p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расширенное тестирование и развитие аналитики / отчётных форм;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переход на 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PostgreSQL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 и подготовка к развёртыванию (в т.ч. контейнеризация — по мере необходимости);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углубление мер информационной безопасности и защиты персональных данных в соответствии с целевым контуром эксплуатации (в т.ч. положения 152‑ФЗ — как отдельный этап внедрения, без заявления о полном комплексе мер на текущем прототипе).</a:t>
            </a:r>
          </a:p>
        </p:txBody>
      </p:sp>
    </p:spTree>
    <p:extLst>
      <p:ext uri="{BB962C8B-B14F-4D97-AF65-F5344CB8AC3E}">
        <p14:creationId xmlns:p14="http://schemas.microsoft.com/office/powerpoint/2010/main" val="11168962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8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7474090-B206-43C0-969E-36A803F3AF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7039" y="679681"/>
            <a:ext cx="2338312" cy="661341"/>
          </a:xfrm>
          <a:prstGeom prst="rect">
            <a:avLst/>
          </a:prstGeom>
        </p:spPr>
      </p:pic>
      <p:sp>
        <p:nvSpPr>
          <p:cNvPr id="4" name="object 21">
            <a:extLst>
              <a:ext uri="{FF2B5EF4-FFF2-40B4-BE49-F238E27FC236}">
                <a16:creationId xmlns:a16="http://schemas.microsoft.com/office/drawing/2014/main" id="{A3A4DCCF-4674-41A6-9649-5AEFCE619344}"/>
              </a:ext>
            </a:extLst>
          </p:cNvPr>
          <p:cNvSpPr txBox="1">
            <a:spLocks/>
          </p:cNvSpPr>
          <p:nvPr/>
        </p:nvSpPr>
        <p:spPr>
          <a:xfrm>
            <a:off x="707038" y="2805752"/>
            <a:ext cx="6870555" cy="1246495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ru-RU" sz="4000" dirty="0">
                <a:solidFill>
                  <a:srgbClr val="FFFFFF"/>
                </a:solidFill>
                <a:latin typeface="Nekst Bold" panose="00000800000000000000" pitchFamily="2" charset="-52"/>
              </a:rPr>
              <a:t>СПАСИБО </a:t>
            </a:r>
            <a:br>
              <a:rPr lang="ru-RU" sz="4000" dirty="0">
                <a:solidFill>
                  <a:srgbClr val="FFFFFF"/>
                </a:solidFill>
                <a:latin typeface="Nekst Bold" panose="00000800000000000000" pitchFamily="2" charset="-52"/>
              </a:rPr>
            </a:br>
            <a:r>
              <a:rPr lang="ru-RU" sz="4000" dirty="0">
                <a:solidFill>
                  <a:srgbClr val="FFFFFF"/>
                </a:solidFill>
                <a:latin typeface="Nekst Bold" panose="00000800000000000000" pitchFamily="2" charset="-52"/>
              </a:rPr>
              <a:t>ЗА ВНИМАНИЕ!</a:t>
            </a:r>
            <a:endParaRPr lang="ru-RU" sz="4000" dirty="0">
              <a:latin typeface="Nekst Bold" panose="00000800000000000000" pitchFamily="2" charset="-52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C420B5-68DA-4A04-BF66-4777E4377E6B}"/>
              </a:ext>
            </a:extLst>
          </p:cNvPr>
          <p:cNvSpPr/>
          <p:nvPr/>
        </p:nvSpPr>
        <p:spPr>
          <a:xfrm>
            <a:off x="622853" y="4857701"/>
            <a:ext cx="3266920" cy="3362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marR="553720">
              <a:lnSpc>
                <a:spcPct val="109400"/>
              </a:lnSpc>
              <a:spcBef>
                <a:spcPts val="525"/>
              </a:spcBef>
            </a:pP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Гураль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Илья Сергеевич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285BF20-4772-4B47-9219-A3AD8B0384DD}"/>
              </a:ext>
            </a:extLst>
          </p:cNvPr>
          <p:cNvSpPr/>
          <p:nvPr/>
        </p:nvSpPr>
        <p:spPr>
          <a:xfrm>
            <a:off x="622853" y="5225233"/>
            <a:ext cx="4591000" cy="3362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marR="553720">
              <a:lnSpc>
                <a:spcPct val="109400"/>
              </a:lnSpc>
              <a:spcBef>
                <a:spcPts val="525"/>
              </a:spcBef>
            </a:pPr>
            <a:r>
              <a:rPr lang="en-US"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e-mail: ilaygural1987@yandex.ru</a:t>
            </a:r>
            <a:endParaRPr lang="en-US" sz="1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550729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37">
            <a:extLst>
              <a:ext uri="{FF2B5EF4-FFF2-40B4-BE49-F238E27FC236}">
                <a16:creationId xmlns:a16="http://schemas.microsoft.com/office/drawing/2014/main" id="{DB108E63-CEA9-48E0-A9F3-E51E84624003}"/>
              </a:ext>
            </a:extLst>
          </p:cNvPr>
          <p:cNvSpPr/>
          <p:nvPr/>
        </p:nvSpPr>
        <p:spPr>
          <a:xfrm>
            <a:off x="963729" y="1383758"/>
            <a:ext cx="10654465" cy="4210218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/>
              <a:t> </a:t>
            </a:r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1220" y="220469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653468" y="223288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Вопрос: Почему не взяли готовое решение (Битрикс24, 1С, Аверс, </a:t>
            </a:r>
            <a:r>
              <a:rPr lang="ru-RU" sz="2800" b="1" dirty="0" err="1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ListOk</a:t>
            </a:r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)?</a:t>
            </a:r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18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B92A20-969C-4233-BD58-BA081B688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468" y="1606896"/>
            <a:ext cx="65" cy="323141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38088" rIns="0" bIns="38088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ru-RU" altLang="ru-RU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7F2E0C-23F1-47A2-9D7B-5A424844350D}"/>
              </a:ext>
            </a:extLst>
          </p:cNvPr>
          <p:cNvSpPr txBox="1"/>
          <p:nvPr/>
        </p:nvSpPr>
        <p:spPr>
          <a:xfrm>
            <a:off x="1053329" y="1768466"/>
            <a:ext cx="10174942" cy="3551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Ответ:</a:t>
            </a:r>
          </a:p>
          <a:p>
            <a:pPr algn="l"/>
            <a:endParaRPr lang="ru-RU" b="0" i="0" dirty="0">
              <a:solidFill>
                <a:srgbClr val="222222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Готовые продукты сильны </a:t>
            </a:r>
            <a:r>
              <a:rPr lang="ru-RU" sz="1600" b="1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по отдельным контурам</a:t>
            </a:r>
            <a:r>
              <a:rPr lang="ru-RU" sz="16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 (CRM / учебный учёт / отчётность), но редко закрывают </a:t>
            </a:r>
            <a:r>
              <a:rPr lang="ru-RU" sz="1600" b="1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всё сразу</a:t>
            </a:r>
            <a:r>
              <a:rPr lang="ru-RU" sz="16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 под логику конкретного учреждения.</a:t>
            </a:r>
          </a:p>
          <a:p>
            <a:pPr algn="l">
              <a:lnSpc>
                <a:spcPct val="150000"/>
              </a:lnSpc>
            </a:pPr>
            <a:endParaRPr lang="ru-RU" sz="1600" b="0" i="0" dirty="0">
              <a:solidFill>
                <a:srgbClr val="222222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Задача этапа — </a:t>
            </a:r>
            <a:r>
              <a:rPr lang="ru-RU" sz="1600" b="1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собрать и проверить</a:t>
            </a:r>
            <a:r>
              <a:rPr lang="ru-RU" sz="16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 связный сквозной сценарий на </a:t>
            </a:r>
            <a:r>
              <a:rPr lang="ru-RU" sz="1600" b="1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контролируемом стеке</a:t>
            </a:r>
            <a:r>
              <a:rPr lang="ru-RU" sz="16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 и </a:t>
            </a:r>
            <a:r>
              <a:rPr lang="ru-RU" sz="1600" b="1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понятной модели данных</a:t>
            </a:r>
            <a:r>
              <a:rPr lang="ru-RU" sz="16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algn="l">
              <a:lnSpc>
                <a:spcPct val="150000"/>
              </a:lnSpc>
            </a:pPr>
            <a:endParaRPr lang="ru-RU" sz="1600" b="0" i="0" dirty="0">
              <a:solidFill>
                <a:srgbClr val="222222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Собственная разработка оправдана </a:t>
            </a:r>
            <a:r>
              <a:rPr lang="ru-RU" sz="1600" b="1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поэтапным развитием</a:t>
            </a:r>
            <a:r>
              <a:rPr lang="ru-RU" sz="16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 и адаптацией под процессы без «натягивания» на чужую конфигурацию.</a:t>
            </a:r>
          </a:p>
        </p:txBody>
      </p:sp>
    </p:spTree>
    <p:extLst>
      <p:ext uri="{BB962C8B-B14F-4D97-AF65-F5344CB8AC3E}">
        <p14:creationId xmlns:p14="http://schemas.microsoft.com/office/powerpoint/2010/main" val="22755285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37">
            <a:extLst>
              <a:ext uri="{FF2B5EF4-FFF2-40B4-BE49-F238E27FC236}">
                <a16:creationId xmlns:a16="http://schemas.microsoft.com/office/drawing/2014/main" id="{DB108E63-CEA9-48E0-A9F3-E51E84624003}"/>
              </a:ext>
            </a:extLst>
          </p:cNvPr>
          <p:cNvSpPr/>
          <p:nvPr/>
        </p:nvSpPr>
        <p:spPr>
          <a:xfrm>
            <a:off x="963729" y="1383758"/>
            <a:ext cx="10654465" cy="4210218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/>
              <a:t> </a:t>
            </a:r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1220" y="220469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653468" y="223288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Вопрос: Что реально сделано в прототипе, а что осталось на ВКР?</a:t>
            </a:r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19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B92A20-969C-4233-BD58-BA081B688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468" y="1606896"/>
            <a:ext cx="65" cy="323141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38088" rIns="0" bIns="38088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ru-RU" altLang="ru-RU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7F2E0C-23F1-47A2-9D7B-5A424844350D}"/>
              </a:ext>
            </a:extLst>
          </p:cNvPr>
          <p:cNvSpPr txBox="1"/>
          <p:nvPr/>
        </p:nvSpPr>
        <p:spPr>
          <a:xfrm>
            <a:off x="1053329" y="2274838"/>
            <a:ext cx="1017494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Ответ:</a:t>
            </a:r>
          </a:p>
          <a:p>
            <a:pPr algn="l"/>
            <a:endParaRPr lang="ru-RU" i="0" dirty="0">
              <a:solidFill>
                <a:srgbClr val="222222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Сделано: </a:t>
            </a:r>
            <a:r>
              <a:rPr lang="ru-RU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заявка → одобрение/отклонение → создание связанных сущностей и зачисление; журнал посещаемости; роли и кабинеты; базовая проверка сценариев.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ru-RU" i="0" dirty="0">
              <a:solidFill>
                <a:srgbClr val="222222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ВКР: </a:t>
            </a:r>
            <a:r>
              <a:rPr lang="ru-RU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расширенное тестирование, развитие отчётности/аналитики, промышленная БД и развёртывание, углубление ИБ/</a:t>
            </a:r>
            <a:r>
              <a:rPr lang="ru-RU" i="0" dirty="0" err="1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ПДн</a:t>
            </a:r>
            <a:r>
              <a:rPr lang="ru-RU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по целевому контуру.</a:t>
            </a:r>
            <a:endParaRPr lang="ru-RU" sz="1600" i="0" dirty="0">
              <a:solidFill>
                <a:srgbClr val="222222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8234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37">
            <a:extLst>
              <a:ext uri="{FF2B5EF4-FFF2-40B4-BE49-F238E27FC236}">
                <a16:creationId xmlns:a16="http://schemas.microsoft.com/office/drawing/2014/main" id="{DB108E63-CEA9-48E0-A9F3-E51E84624003}"/>
              </a:ext>
            </a:extLst>
          </p:cNvPr>
          <p:cNvSpPr/>
          <p:nvPr/>
        </p:nvSpPr>
        <p:spPr>
          <a:xfrm>
            <a:off x="963729" y="1383758"/>
            <a:ext cx="10654465" cy="4210218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/>
              <a:t> </a:t>
            </a:r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1220" y="220469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653468" y="223288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Вопрос: Насколько корректно сравнение с аналогами, если прототип проще?</a:t>
            </a:r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20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B92A20-969C-4233-BD58-BA081B688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468" y="1606896"/>
            <a:ext cx="65" cy="323141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38088" rIns="0" bIns="38088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ru-RU" altLang="ru-RU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7F2E0C-23F1-47A2-9D7B-5A424844350D}"/>
              </a:ext>
            </a:extLst>
          </p:cNvPr>
          <p:cNvSpPr txBox="1"/>
          <p:nvPr/>
        </p:nvSpPr>
        <p:spPr>
          <a:xfrm>
            <a:off x="1053329" y="2274838"/>
            <a:ext cx="1017494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Ответ:</a:t>
            </a:r>
          </a:p>
          <a:p>
            <a:pPr algn="l"/>
            <a:endParaRPr lang="ru-RU" b="0" i="0" dirty="0">
              <a:solidFill>
                <a:srgbClr val="222222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Сравнение по </a:t>
            </a:r>
            <a:r>
              <a:rPr lang="ru-RU" b="1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критериям покрытия функциональных контуров</a:t>
            </a:r>
            <a:r>
              <a:rPr lang="ru-RU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, а не «мы лучше продукта Х».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222222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Прототип подтверждает </a:t>
            </a:r>
            <a:r>
              <a:rPr lang="ru-RU" b="1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основной поток данных</a:t>
            </a:r>
            <a:r>
              <a:rPr lang="ru-RU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 и </a:t>
            </a:r>
            <a:r>
              <a:rPr lang="ru-RU" b="1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архитектурную состыковку</a:t>
            </a:r>
            <a:r>
              <a:rPr lang="ru-RU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 сущностей.</a:t>
            </a:r>
          </a:p>
          <a:p>
            <a:pPr algn="l"/>
            <a:endParaRPr lang="ru-RU" b="0" i="0" dirty="0">
              <a:solidFill>
                <a:srgbClr val="222222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Полнота как у коммерческих систем </a:t>
            </a:r>
            <a:r>
              <a:rPr lang="ru-RU" b="1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не заявляется</a:t>
            </a:r>
            <a:r>
              <a:rPr lang="ru-RU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 — это следующий этап.</a:t>
            </a:r>
          </a:p>
        </p:txBody>
      </p:sp>
    </p:spTree>
    <p:extLst>
      <p:ext uri="{BB962C8B-B14F-4D97-AF65-F5344CB8AC3E}">
        <p14:creationId xmlns:p14="http://schemas.microsoft.com/office/powerpoint/2010/main" val="3744289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37">
            <a:extLst>
              <a:ext uri="{FF2B5EF4-FFF2-40B4-BE49-F238E27FC236}">
                <a16:creationId xmlns:a16="http://schemas.microsoft.com/office/drawing/2014/main" id="{DB108E63-CEA9-48E0-A9F3-E51E84624003}"/>
              </a:ext>
            </a:extLst>
          </p:cNvPr>
          <p:cNvSpPr/>
          <p:nvPr/>
        </p:nvSpPr>
        <p:spPr>
          <a:xfrm>
            <a:off x="963729" y="1383758"/>
            <a:ext cx="10654465" cy="4210218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/>
              <a:t> </a:t>
            </a:r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1220" y="220469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653468" y="223288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Вопрос: Как устроена ролевая модель и защита страниц?</a:t>
            </a:r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21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B92A20-969C-4233-BD58-BA081B688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468" y="1606896"/>
            <a:ext cx="65" cy="323141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38088" rIns="0" bIns="38088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ru-RU" altLang="ru-RU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7F2E0C-23F1-47A2-9D7B-5A424844350D}"/>
              </a:ext>
            </a:extLst>
          </p:cNvPr>
          <p:cNvSpPr txBox="1"/>
          <p:nvPr/>
        </p:nvSpPr>
        <p:spPr>
          <a:xfrm>
            <a:off x="1053329" y="2274838"/>
            <a:ext cx="1017494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Ответ:</a:t>
            </a:r>
          </a:p>
          <a:p>
            <a:pPr algn="l"/>
            <a:endParaRPr lang="ru-RU" i="0" dirty="0">
              <a:solidFill>
                <a:srgbClr val="222222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Базовая аутентификация </a:t>
            </a:r>
            <a:r>
              <a:rPr lang="ru-RU" i="0" dirty="0" err="1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Django</a:t>
            </a:r>
            <a:r>
              <a:rPr lang="ru-RU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+ профили ролей 1:1 с User.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ru-RU" i="0" dirty="0">
              <a:solidFill>
                <a:srgbClr val="222222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После входа — выбор роли из доступных профилей.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ru-RU" i="0" dirty="0">
              <a:solidFill>
                <a:srgbClr val="222222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Ограничение доступа: </a:t>
            </a:r>
            <a:r>
              <a:rPr lang="ru-RU" i="0" dirty="0" err="1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LoginRequiredMixin</a:t>
            </a:r>
            <a:r>
              <a:rPr lang="ru-RU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+ проверки наличия нужного *_</a:t>
            </a:r>
            <a:r>
              <a:rPr lang="ru-RU" i="0" dirty="0" err="1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profile</a:t>
            </a:r>
            <a:r>
              <a:rPr lang="ru-RU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в представлениях + ролевая навигация.</a:t>
            </a:r>
          </a:p>
        </p:txBody>
      </p:sp>
    </p:spTree>
    <p:extLst>
      <p:ext uri="{BB962C8B-B14F-4D97-AF65-F5344CB8AC3E}">
        <p14:creationId xmlns:p14="http://schemas.microsoft.com/office/powerpoint/2010/main" val="6271482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37">
            <a:extLst>
              <a:ext uri="{FF2B5EF4-FFF2-40B4-BE49-F238E27FC236}">
                <a16:creationId xmlns:a16="http://schemas.microsoft.com/office/drawing/2014/main" id="{DB108E63-CEA9-48E0-A9F3-E51E84624003}"/>
              </a:ext>
            </a:extLst>
          </p:cNvPr>
          <p:cNvSpPr/>
          <p:nvPr/>
        </p:nvSpPr>
        <p:spPr>
          <a:xfrm>
            <a:off x="963729" y="1383758"/>
            <a:ext cx="10654465" cy="4210218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/>
              <a:t> </a:t>
            </a:r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1220" y="220469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653468" y="223288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Вопрос: Что с персональными данными и 152‑ФЗ?</a:t>
            </a:r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22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B92A20-969C-4233-BD58-BA081B688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468" y="1606896"/>
            <a:ext cx="65" cy="323141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38088" rIns="0" bIns="38088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ru-RU" altLang="ru-RU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7F2E0C-23F1-47A2-9D7B-5A424844350D}"/>
              </a:ext>
            </a:extLst>
          </p:cNvPr>
          <p:cNvSpPr txBox="1"/>
          <p:nvPr/>
        </p:nvSpPr>
        <p:spPr>
          <a:xfrm>
            <a:off x="1053329" y="2274838"/>
            <a:ext cx="1017494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Ответ:</a:t>
            </a:r>
          </a:p>
          <a:p>
            <a:pPr algn="l"/>
            <a:endParaRPr lang="ru-RU" b="0" i="0" dirty="0">
              <a:solidFill>
                <a:srgbClr val="222222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На этапе прототипа акцент на </a:t>
            </a:r>
            <a:r>
              <a:rPr lang="ru-RU" b="1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разграничении доступа по ролям</a:t>
            </a:r>
            <a:r>
              <a:rPr lang="ru-RU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 и минимизации «лишних» действий пользователя.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222222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Меры промышленного уровня (</a:t>
            </a:r>
            <a:r>
              <a:rPr lang="ru-RU" b="1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HTTPS как среда</a:t>
            </a:r>
            <a:r>
              <a:rPr lang="ru-RU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, расширенный аудит, согласия, политики хранения) — </a:t>
            </a:r>
            <a:r>
              <a:rPr lang="ru-RU" b="1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планируются</a:t>
            </a:r>
            <a:r>
              <a:rPr lang="ru-RU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 в рамках ВКР/внедрения.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222222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В отчёте формулировки </a:t>
            </a:r>
            <a:r>
              <a:rPr lang="ru-RU" b="1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разделяют</a:t>
            </a:r>
            <a:r>
              <a:rPr lang="ru-RU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 «проектные требования» и «факт текущей реализации».</a:t>
            </a:r>
          </a:p>
          <a:p>
            <a:b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ru-RU" i="0" dirty="0">
              <a:solidFill>
                <a:srgbClr val="222222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5397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37">
            <a:extLst>
              <a:ext uri="{FF2B5EF4-FFF2-40B4-BE49-F238E27FC236}">
                <a16:creationId xmlns:a16="http://schemas.microsoft.com/office/drawing/2014/main" id="{DB108E63-CEA9-48E0-A9F3-E51E84624003}"/>
              </a:ext>
            </a:extLst>
          </p:cNvPr>
          <p:cNvSpPr/>
          <p:nvPr/>
        </p:nvSpPr>
        <p:spPr>
          <a:xfrm>
            <a:off x="963729" y="1383758"/>
            <a:ext cx="10654465" cy="4210218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/>
              <a:t> </a:t>
            </a:r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1220" y="220469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653468" y="223288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Вопрос: Почему </a:t>
            </a:r>
            <a:r>
              <a:rPr lang="ru-RU" sz="2800" b="1" dirty="0" err="1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SQLite</a:t>
            </a:r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а не сразу </a:t>
            </a:r>
            <a:r>
              <a:rPr lang="ru-RU" sz="2800" b="1" dirty="0" err="1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PostgreSQL</a:t>
            </a:r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23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B92A20-969C-4233-BD58-BA081B688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468" y="1606896"/>
            <a:ext cx="65" cy="323141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38088" rIns="0" bIns="38088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ru-RU" altLang="ru-RU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7F2E0C-23F1-47A2-9D7B-5A424844350D}"/>
              </a:ext>
            </a:extLst>
          </p:cNvPr>
          <p:cNvSpPr txBox="1"/>
          <p:nvPr/>
        </p:nvSpPr>
        <p:spPr>
          <a:xfrm>
            <a:off x="1053329" y="2274838"/>
            <a:ext cx="1017494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Ответ:</a:t>
            </a:r>
          </a:p>
          <a:p>
            <a:pPr algn="l"/>
            <a:endParaRPr lang="ru-RU" i="0" dirty="0">
              <a:solidFill>
                <a:srgbClr val="222222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i="0" dirty="0" err="1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SQLite</a:t>
            </a:r>
            <a:r>
              <a:rPr lang="ru-RU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ускоряет локальные итерации и сопровождение на этапе разработки.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ru-RU" i="0" dirty="0">
              <a:solidFill>
                <a:srgbClr val="222222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i="0" dirty="0" err="1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PostgreSQL</a:t>
            </a:r>
            <a:r>
              <a:rPr lang="ru-RU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— целевая СУБД для одновременной работы и эксплуатации; перенос упрощается ORM и миграциями.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ru-RU" i="0" dirty="0">
              <a:solidFill>
                <a:srgbClr val="222222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На разных ПК критично синхронизировать схему через </a:t>
            </a:r>
            <a:r>
              <a:rPr lang="ru-RU" i="0" dirty="0" err="1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migrate</a:t>
            </a:r>
            <a:r>
              <a:rPr lang="ru-RU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271750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37">
            <a:extLst>
              <a:ext uri="{FF2B5EF4-FFF2-40B4-BE49-F238E27FC236}">
                <a16:creationId xmlns:a16="http://schemas.microsoft.com/office/drawing/2014/main" id="{DB108E63-CEA9-48E0-A9F3-E51E84624003}"/>
              </a:ext>
            </a:extLst>
          </p:cNvPr>
          <p:cNvSpPr/>
          <p:nvPr/>
        </p:nvSpPr>
        <p:spPr>
          <a:xfrm>
            <a:off x="963729" y="1383758"/>
            <a:ext cx="10654465" cy="4210218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/>
              <a:t> </a:t>
            </a:r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1220" y="220469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653468" y="223288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Вопрос: Почему монолит, а не </a:t>
            </a:r>
            <a:r>
              <a:rPr lang="ru-RU" sz="2800" b="1" dirty="0" err="1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микросервисы</a:t>
            </a:r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24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B92A20-969C-4233-BD58-BA081B688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468" y="1606896"/>
            <a:ext cx="65" cy="323141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38088" rIns="0" bIns="38088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ru-RU" altLang="ru-RU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7F2E0C-23F1-47A2-9D7B-5A424844350D}"/>
              </a:ext>
            </a:extLst>
          </p:cNvPr>
          <p:cNvSpPr txBox="1"/>
          <p:nvPr/>
        </p:nvSpPr>
        <p:spPr>
          <a:xfrm>
            <a:off x="1053329" y="2274838"/>
            <a:ext cx="1017494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Ответ:</a:t>
            </a:r>
          </a:p>
          <a:p>
            <a:pPr algn="l"/>
            <a:endParaRPr lang="ru-RU" b="0" i="0" dirty="0">
              <a:solidFill>
                <a:srgbClr val="222222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Объём системы небольшой, модули </a:t>
            </a:r>
            <a:r>
              <a:rPr lang="ru-RU" b="1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сильно связаны данными</a:t>
            </a:r>
            <a:r>
              <a:rPr lang="ru-RU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222222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Монолит на 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Django</a:t>
            </a:r>
            <a:r>
              <a:rPr lang="ru-RU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даёт скорость разработки, проще деплой на этапе прототипа.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222222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Микросервисная</a:t>
            </a:r>
            <a:r>
              <a:rPr lang="ru-RU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декомпозиция возможна позже при росте нагрузки и команды — </a:t>
            </a:r>
            <a:r>
              <a:rPr lang="ru-RU" b="1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не является целью </a:t>
            </a:r>
            <a:r>
              <a:rPr lang="ru-RU" b="1" i="0" dirty="0" err="1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преддиплома</a:t>
            </a:r>
            <a:r>
              <a:rPr lang="ru-RU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741012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1044</TotalTime>
  <Words>1813</Words>
  <Application>Microsoft Office PowerPoint</Application>
  <PresentationFormat>Широкоэкранный</PresentationFormat>
  <Paragraphs>270</Paragraphs>
  <Slides>24</Slides>
  <Notes>22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2" baseType="lpstr">
      <vt:lpstr>Arial</vt:lpstr>
      <vt:lpstr>Calibri</vt:lpstr>
      <vt:lpstr>Calibri Light</vt:lpstr>
      <vt:lpstr>Nekst Bold</vt:lpstr>
      <vt:lpstr>Segoe WPC</vt:lpstr>
      <vt:lpstr>Verdana</vt:lpstr>
      <vt:lpstr>Wingdings</vt:lpstr>
      <vt:lpstr>Тема Office</vt:lpstr>
      <vt:lpstr>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Департамент образования: итоги 2021</dc:title>
  <dc:creator>User</dc:creator>
  <cp:lastModifiedBy>Ilay Gural</cp:lastModifiedBy>
  <cp:revision>94</cp:revision>
  <dcterms:created xsi:type="dcterms:W3CDTF">2022-06-29T03:22:44Z</dcterms:created>
  <dcterms:modified xsi:type="dcterms:W3CDTF">2026-05-12T02:45:58Z</dcterms:modified>
</cp:coreProperties>
</file>